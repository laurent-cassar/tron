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5143500" cx="9144000"/>
  <p:notesSz cx="6858000" cy="9144000"/>
  <p:embeddedFontLst>
    <p:embeddedFont>
      <p:font typeface="Nunito"/>
      <p:regular r:id="rId40"/>
      <p:bold r:id="rId41"/>
      <p:italic r:id="rId42"/>
      <p:boldItalic r:id="rId43"/>
    </p:embeddedFont>
    <p:embeddedFont>
      <p:font typeface="Poppins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regular.fntdata"/><Relationship Id="rId42" Type="http://schemas.openxmlformats.org/officeDocument/2006/relationships/font" Target="fonts/Nunito-italic.fntdata"/><Relationship Id="rId41" Type="http://schemas.openxmlformats.org/officeDocument/2006/relationships/font" Target="fonts/Nunito-bold.fntdata"/><Relationship Id="rId44" Type="http://schemas.openxmlformats.org/officeDocument/2006/relationships/font" Target="fonts/Poppins-regular.fntdata"/><Relationship Id="rId43" Type="http://schemas.openxmlformats.org/officeDocument/2006/relationships/font" Target="fonts/Nunito-boldItalic.fntdata"/><Relationship Id="rId46" Type="http://schemas.openxmlformats.org/officeDocument/2006/relationships/font" Target="fonts/Poppins-italic.fntdata"/><Relationship Id="rId45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Mono-regular.fntdata"/><Relationship Id="rId47" Type="http://schemas.openxmlformats.org/officeDocument/2006/relationships/font" Target="fonts/Poppins-boldItalic.fntdata"/><Relationship Id="rId49" Type="http://schemas.openxmlformats.org/officeDocument/2006/relationships/font" Target="fonts/RobotoMon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5e0751c74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35e0751c74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5e0751c74a_0_1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5e0751c74a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5e0751c74a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5e0751c74a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70db3a3cd5_2_6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L’utilisation globale se rapproche de celle de SFML, OpenGL, …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00" name="Google Shape;600;g370db3a3cd5_2_6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708b37d6cd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g3708b37d6cd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70db3a3cd5_2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28" name="Google Shape;628;g370db3a3cd5_2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0db3a3cd5_2_13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g370db3a3cd5_2_13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70db3a3cd5_2_12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5" name="Google Shape;665;g370db3a3cd5_2_12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70db3a3cd5_2_12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g370db3a3cd5_2_12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70db3a3cd5_2_13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1" name="Google Shape;691;g370db3a3cd5_2_13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70db3a3cd5_2_13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g370db3a3cd5_2_13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70db3a3cd5_2_13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7" name="Google Shape;717;g370db3a3cd5_2_13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70db3a3cd5_2_13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8" name="Google Shape;728;g370db3a3cd5_2_13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70db3a3cd5_2_14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g370db3a3cd5_2_14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70db3a3cd5_2_14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55" name="Google Shape;755;g370db3a3cd5_2_14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70db3a3cd5_2_15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8" name="Google Shape;798;g370db3a3cd5_2_15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70db3a3cd5_2_15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3" name="Google Shape;803;g370db3a3cd5_2_15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Exemple d’autre shader: Geometry Shader pour ceux qui l’ont vu sur Blender</a:t>
            </a:r>
            <a:br>
              <a:rPr lang="en-US"/>
            </a:br>
            <a:br>
              <a:rPr lang="en-US"/>
            </a:br>
            <a:r>
              <a:rPr lang="en-US"/>
              <a:t>Le bind des matrices au Vertex Shader se fait à l’affichage, après avoir créer les matrices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70db3a3cd5_2_15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2" name="Google Shape;812;g370db3a3cd5_2_15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Exemple d’autre shader: Geometry Shader pour ceux qui l’ont vu sur Blender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70db3a3cd5_2_15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9" name="Google Shape;819;g370db3a3cd5_2_15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Exemple d’autre shader: Geometry Shader pour ceux qui l’ont vu sur Blender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70db3a3cd5_2_14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7" name="Google Shape;827;g370db3a3cd5_2_14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70db3a3cd5_2_13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2" name="Google Shape;832;g370db3a3cd5_2_13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70db3a3cd5_2_13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3" name="Google Shape;843;g370db3a3cd5_2_13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http://www.codinglabs.net/article_world_view_projection_matrix.aspx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70db3a3cd5_2_15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3" name="Google Shape;853;g370db3a3cd5_2_15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71233a5cb2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L’utilisation globale se rapproche de celle de SFML, OpenGL, …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58" name="Google Shape;858;g371233a5cb2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71233a5cb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3" name="Google Shape;883;g371233a5cb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71233a5cb2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8" name="Google Shape;888;g371233a5cb2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71233a5cb2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9" name="Google Shape;899;g371233a5cb2_0_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71233a5cb2_0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4" name="Google Shape;904;g371233a5cb2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71233a5cb2_0_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27" name="Google Shape;927;g371233a5cb2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71233a5cb2_0_1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34" name="Google Shape;934;g371233a5cb2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71233a5cb2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2" name="Google Shape;962;g371233a5cb2_0_1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71233a5cb2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67" name="Google Shape;967;g371233a5cb2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71233a5cb2_0_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L’utilisation globale se rapproche de celle de SFML, OpenGL, …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78" name="Google Shape;978;g371233a5cb2_0_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5f96a3574a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g35f96a3574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5f96a3574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5f96a3574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2">
  <p:cSld name="TITLE_3">
    <p:bg>
      <p:bgPr>
        <a:solidFill>
          <a:srgbClr val="0062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21649" r="8761" t="0"/>
          <a:stretch/>
        </p:blipFill>
        <p:spPr>
          <a:xfrm>
            <a:off x="3773852" y="0"/>
            <a:ext cx="5370148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82609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64945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5611325" y="8831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3678350" y="883125"/>
            <a:ext cx="978600" cy="19743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3678350" y="2649525"/>
            <a:ext cx="18618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_1">
  <p:cSld name="TITLE_2">
    <p:bg>
      <p:bgPr>
        <a:solidFill>
          <a:srgbClr val="0062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737" l="8374" r="0" t="26291"/>
          <a:stretch/>
        </p:blipFill>
        <p:spPr>
          <a:xfrm flipH="1">
            <a:off x="-4" y="700"/>
            <a:ext cx="4300054" cy="5142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ctrTitle"/>
          </p:nvPr>
        </p:nvSpPr>
        <p:spPr>
          <a:xfrm>
            <a:off x="4592276" y="274517"/>
            <a:ext cx="40581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>
            <a:off x="-7875" y="42939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49525" y="34365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453225" y="0"/>
            <a:ext cx="10149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o_Colonnes_2">
  <p:cSld name="BLANK_1_1_1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"/>
          <p:cNvSpPr/>
          <p:nvPr>
            <p:ph idx="2" type="pic"/>
          </p:nvPr>
        </p:nvSpPr>
        <p:spPr>
          <a:xfrm>
            <a:off x="433675" y="1701988"/>
            <a:ext cx="917100" cy="9171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387200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4" name="Google Shape;34;p4"/>
          <p:cNvSpPr/>
          <p:nvPr>
            <p:ph idx="3" type="pic"/>
          </p:nvPr>
        </p:nvSpPr>
        <p:spPr>
          <a:xfrm>
            <a:off x="2618613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4"/>
          <p:cNvSpPr txBox="1"/>
          <p:nvPr>
            <p:ph idx="4" type="subTitle"/>
          </p:nvPr>
        </p:nvSpPr>
        <p:spPr>
          <a:xfrm>
            <a:off x="2595383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5" type="body"/>
          </p:nvPr>
        </p:nvSpPr>
        <p:spPr>
          <a:xfrm>
            <a:off x="2595375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" name="Google Shape;37;p4"/>
          <p:cNvSpPr/>
          <p:nvPr>
            <p:ph idx="6" type="pic"/>
          </p:nvPr>
        </p:nvSpPr>
        <p:spPr>
          <a:xfrm>
            <a:off x="4803575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7" type="subTitle"/>
          </p:nvPr>
        </p:nvSpPr>
        <p:spPr>
          <a:xfrm>
            <a:off x="4803567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8" type="body"/>
          </p:nvPr>
        </p:nvSpPr>
        <p:spPr>
          <a:xfrm>
            <a:off x="4807438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4"/>
          <p:cNvSpPr/>
          <p:nvPr>
            <p:ph idx="9" type="pic"/>
          </p:nvPr>
        </p:nvSpPr>
        <p:spPr>
          <a:xfrm>
            <a:off x="7058200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" name="Google Shape;41;p4"/>
          <p:cNvSpPr txBox="1"/>
          <p:nvPr>
            <p:ph idx="13" type="subTitle"/>
          </p:nvPr>
        </p:nvSpPr>
        <p:spPr>
          <a:xfrm>
            <a:off x="7011750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4" type="body"/>
          </p:nvPr>
        </p:nvSpPr>
        <p:spPr>
          <a:xfrm>
            <a:off x="7019500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5" type="body"/>
          </p:nvPr>
        </p:nvSpPr>
        <p:spPr>
          <a:xfrm>
            <a:off x="394950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UNE LIGNE 1">
  <p:cSld name="SECTION_HEADER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7806" l="0" r="0" t="77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83044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4470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5740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5896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732250" y="17148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>
            <p:ph type="title"/>
          </p:nvPr>
        </p:nvSpPr>
        <p:spPr>
          <a:xfrm>
            <a:off x="6589651" y="857400"/>
            <a:ext cx="255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" name="Google Shape;54;p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DEUX OU TROIS LIGNES 1">
  <p:cSld name="SECTION_HEADER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7806" l="0" r="0" t="77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85700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240850" y="1714800"/>
            <a:ext cx="19032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714400" y="857400"/>
            <a:ext cx="2572200" cy="17148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>
            <p:ph type="title"/>
          </p:nvPr>
        </p:nvSpPr>
        <p:spPr>
          <a:xfrm>
            <a:off x="5714400" y="857400"/>
            <a:ext cx="34296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DEUX OU TROIS LIGNES">
  <p:cSld name="SECTION_HEADER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12625" l="14653" r="643" t="1588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485700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7240850" y="1714800"/>
            <a:ext cx="19032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5714400" y="857400"/>
            <a:ext cx="2572200" cy="17148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 txBox="1"/>
          <p:nvPr>
            <p:ph type="title"/>
          </p:nvPr>
        </p:nvSpPr>
        <p:spPr>
          <a:xfrm>
            <a:off x="5714400" y="857400"/>
            <a:ext cx="34296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7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rnière page">
  <p:cSld name="BLANK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1075" y="3722500"/>
            <a:ext cx="2236324" cy="2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0099" y="1849550"/>
            <a:ext cx="738287" cy="7382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 txBox="1"/>
          <p:nvPr>
            <p:ph idx="1" type="body"/>
          </p:nvPr>
        </p:nvSpPr>
        <p:spPr>
          <a:xfrm>
            <a:off x="3450975" y="4085650"/>
            <a:ext cx="2236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1" type="title">
  <p:cSld name="TITLE">
    <p:bg>
      <p:bgPr>
        <a:solidFill>
          <a:srgbClr val="0062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9200" y="4400900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9"/>
          <p:cNvSpPr/>
          <p:nvPr/>
        </p:nvSpPr>
        <p:spPr>
          <a:xfrm>
            <a:off x="0" y="0"/>
            <a:ext cx="741000" cy="74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740775" y="740991"/>
            <a:ext cx="741000" cy="148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740785" y="740775"/>
            <a:ext cx="2222400" cy="74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9"/>
          <p:cNvSpPr txBox="1"/>
          <p:nvPr>
            <p:ph type="title"/>
          </p:nvPr>
        </p:nvSpPr>
        <p:spPr>
          <a:xfrm>
            <a:off x="746075" y="741150"/>
            <a:ext cx="22170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200"/>
              <a:buNone/>
              <a:defRPr sz="1200"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1 1">
  <p:cSld name="TITLE_4">
    <p:bg>
      <p:bgPr>
        <a:solidFill>
          <a:srgbClr val="0062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1597" l="15978" r="25600" t="30148"/>
          <a:stretch/>
        </p:blipFill>
        <p:spPr>
          <a:xfrm flipH="1">
            <a:off x="3773852" y="0"/>
            <a:ext cx="537014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6370700" y="4367125"/>
            <a:ext cx="2034300" cy="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6400800" y="4427425"/>
            <a:ext cx="20688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Solutions entreprises</a:t>
            </a:r>
            <a:endParaRPr b="1" i="0" sz="13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8405100" y="3871525"/>
            <a:ext cx="495600" cy="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4318625" y="0"/>
            <a:ext cx="39423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3600925" y="2162950"/>
            <a:ext cx="1158600" cy="2124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0"/>
          <p:cNvSpPr/>
          <p:nvPr/>
        </p:nvSpPr>
        <p:spPr>
          <a:xfrm>
            <a:off x="3767050" y="0"/>
            <a:ext cx="1714800" cy="34296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3773850" y="2572200"/>
            <a:ext cx="25653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 txBox="1"/>
          <p:nvPr>
            <p:ph type="ctrTitle"/>
          </p:nvPr>
        </p:nvSpPr>
        <p:spPr>
          <a:xfrm>
            <a:off x="367975" y="1335450"/>
            <a:ext cx="44628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3">
  <p:cSld name="TITLE_3_1">
    <p:bg>
      <p:bgPr>
        <a:solidFill>
          <a:srgbClr val="0062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11697" l="0" r="0" t="11697"/>
          <a:stretch/>
        </p:blipFill>
        <p:spPr>
          <a:xfrm>
            <a:off x="3773852" y="0"/>
            <a:ext cx="5370146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/>
          <p:nvPr/>
        </p:nvSpPr>
        <p:spPr>
          <a:xfrm>
            <a:off x="82609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4657050" y="35327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3655125" y="26495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7377725" y="8831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3655125" y="8831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3655125" y="17663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8260925" y="17663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6370700" y="4367125"/>
            <a:ext cx="2034300" cy="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 txBox="1"/>
          <p:nvPr/>
        </p:nvSpPr>
        <p:spPr>
          <a:xfrm>
            <a:off x="6400800" y="4427425"/>
            <a:ext cx="20688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Solutions entreprises</a:t>
            </a:r>
            <a:endParaRPr b="1" i="0" sz="13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8405100" y="3871525"/>
            <a:ext cx="495600" cy="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_2">
  <p:cSld name="TITLE_1">
    <p:bg>
      <p:bgPr>
        <a:solidFill>
          <a:srgbClr val="0062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2"/>
          <p:cNvPicPr preferRelativeResize="0"/>
          <p:nvPr/>
        </p:nvPicPr>
        <p:blipFill rotWithShape="1">
          <a:blip r:embed="rId2">
            <a:alphaModFix/>
          </a:blip>
          <a:srcRect b="3839" l="52974" r="0" t="11787"/>
          <a:stretch/>
        </p:blipFill>
        <p:spPr>
          <a:xfrm flipH="1">
            <a:off x="-2" y="700"/>
            <a:ext cx="4300052" cy="51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85740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2603700" y="34287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346110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 txBox="1"/>
          <p:nvPr>
            <p:ph type="ctrTitle"/>
          </p:nvPr>
        </p:nvSpPr>
        <p:spPr>
          <a:xfrm>
            <a:off x="4592276" y="274517"/>
            <a:ext cx="40581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_2 1">
  <p:cSld name="TITLE_1_1">
    <p:bg>
      <p:bgPr>
        <a:solidFill>
          <a:srgbClr val="0062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3"/>
          <p:cNvPicPr preferRelativeResize="0"/>
          <p:nvPr/>
        </p:nvPicPr>
        <p:blipFill rotWithShape="1">
          <a:blip r:embed="rId2">
            <a:alphaModFix/>
          </a:blip>
          <a:srcRect b="0" l="22313" r="31942" t="17918"/>
          <a:stretch/>
        </p:blipFill>
        <p:spPr>
          <a:xfrm flipH="1">
            <a:off x="-2" y="700"/>
            <a:ext cx="4300052" cy="514212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85740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603700" y="34287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346110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>
            <p:ph type="ctrTitle"/>
          </p:nvPr>
        </p:nvSpPr>
        <p:spPr>
          <a:xfrm>
            <a:off x="4592276" y="274517"/>
            <a:ext cx="40581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2" name="Google Shape;132;p1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UNE LIGN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4"/>
          <p:cNvPicPr preferRelativeResize="0"/>
          <p:nvPr/>
        </p:nvPicPr>
        <p:blipFill rotWithShape="1">
          <a:blip r:embed="rId2">
            <a:alphaModFix/>
          </a:blip>
          <a:srcRect b="15604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83044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74470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85740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65896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5732250" y="17148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>
            <p:ph type="title"/>
          </p:nvPr>
        </p:nvSpPr>
        <p:spPr>
          <a:xfrm>
            <a:off x="6589651" y="857400"/>
            <a:ext cx="255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" name="Google Shape;145;p1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leche_1" type="tx">
  <p:cSld name="TITLE_AND_BODY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367975" y="196800"/>
            <a:ext cx="50301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4000"/>
              <a:buNone/>
              <a:defRPr sz="4000"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1826" y="746825"/>
            <a:ext cx="1953400" cy="306961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307000" y="2393050"/>
            <a:ext cx="4668000" cy="21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leche_2">
  <p:cSld name="TITLE_AND_BODY_3">
    <p:bg>
      <p:bgPr>
        <a:solidFill>
          <a:srgbClr val="0062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251900" y="188925"/>
            <a:ext cx="50301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14">
            <a:off x="6091829" y="746840"/>
            <a:ext cx="1953394" cy="306659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>
            <p:ph idx="1" type="body"/>
          </p:nvPr>
        </p:nvSpPr>
        <p:spPr>
          <a:xfrm>
            <a:off x="307000" y="2393050"/>
            <a:ext cx="4668000" cy="21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leche_3">
  <p:cSld name="TITLE_AND_BODY_3_1">
    <p:bg>
      <p:bgPr>
        <a:solidFill>
          <a:srgbClr val="000000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251900" y="188925"/>
            <a:ext cx="50301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14">
            <a:off x="6091829" y="746840"/>
            <a:ext cx="1953394" cy="306659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307000" y="2393050"/>
            <a:ext cx="4668000" cy="21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+Encart_1" type="twoColTx">
  <p:cSld name="TITLE_AND_TWO_COLUMNS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291775" y="294575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260250" y="1589250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  <a:defRPr b="1" sz="20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460850" y="1567275"/>
            <a:ext cx="410700" cy="4107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6025" y="1642450"/>
            <a:ext cx="260349" cy="26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/>
          <p:nvPr/>
        </p:nvSpPr>
        <p:spPr>
          <a:xfrm>
            <a:off x="4460850" y="1977975"/>
            <a:ext cx="4189800" cy="267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>
            <p:ph idx="2" type="body"/>
          </p:nvPr>
        </p:nvSpPr>
        <p:spPr>
          <a:xfrm>
            <a:off x="4637025" y="2132400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+Encart_2">
  <p:cSld name="TITLE_AND_TWO_COLUMNS_1">
    <p:bg>
      <p:bgPr>
        <a:solidFill>
          <a:srgbClr val="0062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291775" y="294575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5" name="Google Shape;185;p19"/>
          <p:cNvSpPr txBox="1"/>
          <p:nvPr>
            <p:ph idx="1" type="body"/>
          </p:nvPr>
        </p:nvSpPr>
        <p:spPr>
          <a:xfrm>
            <a:off x="260250" y="1589250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9"/>
          <p:cNvSpPr/>
          <p:nvPr/>
        </p:nvSpPr>
        <p:spPr>
          <a:xfrm>
            <a:off x="4460850" y="1567275"/>
            <a:ext cx="410700" cy="410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460850" y="1977975"/>
            <a:ext cx="4189800" cy="26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>
            <p:ph idx="2" type="body"/>
          </p:nvPr>
        </p:nvSpPr>
        <p:spPr>
          <a:xfrm>
            <a:off x="4637025" y="2132400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36025" y="1642450"/>
            <a:ext cx="260349" cy="26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+Encart_2">
  <p:cSld name="TITLE_AND_TWO_COLUMNS_1_1"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type="title"/>
          </p:nvPr>
        </p:nvSpPr>
        <p:spPr>
          <a:xfrm>
            <a:off x="291775" y="294575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6" name="Google Shape;196;p20"/>
          <p:cNvSpPr txBox="1"/>
          <p:nvPr>
            <p:ph idx="1" type="body"/>
          </p:nvPr>
        </p:nvSpPr>
        <p:spPr>
          <a:xfrm>
            <a:off x="260250" y="1589250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0"/>
          <p:cNvSpPr/>
          <p:nvPr/>
        </p:nvSpPr>
        <p:spPr>
          <a:xfrm>
            <a:off x="4460850" y="1567275"/>
            <a:ext cx="410700" cy="410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460850" y="1977975"/>
            <a:ext cx="4189800" cy="26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>
            <p:ph idx="2" type="body"/>
          </p:nvPr>
        </p:nvSpPr>
        <p:spPr>
          <a:xfrm>
            <a:off x="4637025" y="2132400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0" name="Google Shape;200;p20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6025" y="1642450"/>
            <a:ext cx="260349" cy="2603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Infographie/Photo_1" type="titleOnly">
  <p:cSld name="TITLE_ONLY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type="title"/>
          </p:nvPr>
        </p:nvSpPr>
        <p:spPr>
          <a:xfrm>
            <a:off x="367975" y="318175"/>
            <a:ext cx="74610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207" name="Google Shape;20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1"/>
          <p:cNvSpPr/>
          <p:nvPr>
            <p:ph idx="2" type="pic"/>
          </p:nvPr>
        </p:nvSpPr>
        <p:spPr>
          <a:xfrm>
            <a:off x="368075" y="1519343"/>
            <a:ext cx="8282700" cy="312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Infographie/Photo_2">
  <p:cSld name="TITLE_ONLY_1">
    <p:bg>
      <p:bgPr>
        <a:solidFill>
          <a:srgbClr val="0062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367975" y="318175"/>
            <a:ext cx="74610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3" name="Google Shape;213;p2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>
            <p:ph idx="2" type="pic"/>
          </p:nvPr>
        </p:nvSpPr>
        <p:spPr>
          <a:xfrm>
            <a:off x="368075" y="1519343"/>
            <a:ext cx="8282700" cy="312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Infographie/Photo_3">
  <p:cSld name="TITLE_ONLY_1_1"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367975" y="318175"/>
            <a:ext cx="74610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9" name="Google Shape;219;p2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/>
          <p:nvPr>
            <p:ph idx="2" type="pic"/>
          </p:nvPr>
        </p:nvSpPr>
        <p:spPr>
          <a:xfrm>
            <a:off x="368075" y="1519343"/>
            <a:ext cx="8282700" cy="312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Bullet_1">
  <p:cSld name="ONE_COLUMN_TEXT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4"/>
          <p:cNvSpPr txBox="1"/>
          <p:nvPr>
            <p:ph idx="1" type="subTitle"/>
          </p:nvPr>
        </p:nvSpPr>
        <p:spPr>
          <a:xfrm>
            <a:off x="4849100" y="46445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Font typeface="Poppins"/>
              <a:buNone/>
              <a:defRPr b="1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2" type="body"/>
          </p:nvPr>
        </p:nvSpPr>
        <p:spPr>
          <a:xfrm>
            <a:off x="4786125" y="73995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3" type="subTitle"/>
          </p:nvPr>
        </p:nvSpPr>
        <p:spPr>
          <a:xfrm>
            <a:off x="4849100" y="149565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Font typeface="Poppins"/>
              <a:buAutoNum type="arabicPeriod"/>
              <a:defRPr b="1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29" name="Google Shape;229;p24"/>
          <p:cNvSpPr txBox="1"/>
          <p:nvPr>
            <p:ph idx="4" type="body"/>
          </p:nvPr>
        </p:nvSpPr>
        <p:spPr>
          <a:xfrm>
            <a:off x="4786125" y="177115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5" type="subTitle"/>
          </p:nvPr>
        </p:nvSpPr>
        <p:spPr>
          <a:xfrm>
            <a:off x="4849100" y="258830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Font typeface="Poppins"/>
              <a:buAutoNum type="arabicPeriod"/>
              <a:defRPr b="1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31" name="Google Shape;231;p24"/>
          <p:cNvSpPr txBox="1"/>
          <p:nvPr>
            <p:ph idx="6" type="body"/>
          </p:nvPr>
        </p:nvSpPr>
        <p:spPr>
          <a:xfrm>
            <a:off x="4786125" y="286380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7" type="subTitle"/>
          </p:nvPr>
        </p:nvSpPr>
        <p:spPr>
          <a:xfrm>
            <a:off x="4849100" y="375990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Font typeface="Poppins"/>
              <a:buAutoNum type="arabicPeriod"/>
              <a:defRPr b="1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33" name="Google Shape;233;p24"/>
          <p:cNvSpPr txBox="1"/>
          <p:nvPr>
            <p:ph idx="8" type="body"/>
          </p:nvPr>
        </p:nvSpPr>
        <p:spPr>
          <a:xfrm>
            <a:off x="4786125" y="403540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type="title"/>
          </p:nvPr>
        </p:nvSpPr>
        <p:spPr>
          <a:xfrm>
            <a:off x="367975" y="314800"/>
            <a:ext cx="4062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Bullet_2">
  <p:cSld name="ONE_COLUMN_TEXT_1">
    <p:bg>
      <p:bgPr>
        <a:solidFill>
          <a:srgbClr val="0062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type="title"/>
          </p:nvPr>
        </p:nvSpPr>
        <p:spPr>
          <a:xfrm>
            <a:off x="367975" y="314800"/>
            <a:ext cx="4062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25"/>
          <p:cNvSpPr txBox="1"/>
          <p:nvPr>
            <p:ph idx="1" type="subTitle"/>
          </p:nvPr>
        </p:nvSpPr>
        <p:spPr>
          <a:xfrm>
            <a:off x="4849100" y="46445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39" name="Google Shape;239;p25"/>
          <p:cNvSpPr txBox="1"/>
          <p:nvPr>
            <p:ph idx="2" type="body"/>
          </p:nvPr>
        </p:nvSpPr>
        <p:spPr>
          <a:xfrm>
            <a:off x="4786125" y="73995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3" type="subTitle"/>
          </p:nvPr>
        </p:nvSpPr>
        <p:spPr>
          <a:xfrm>
            <a:off x="4849100" y="149565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5"/>
          <p:cNvSpPr txBox="1"/>
          <p:nvPr>
            <p:ph idx="4" type="body"/>
          </p:nvPr>
        </p:nvSpPr>
        <p:spPr>
          <a:xfrm>
            <a:off x="4786125" y="177115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2" name="Google Shape;242;p25"/>
          <p:cNvSpPr txBox="1"/>
          <p:nvPr>
            <p:ph idx="5" type="subTitle"/>
          </p:nvPr>
        </p:nvSpPr>
        <p:spPr>
          <a:xfrm>
            <a:off x="4849100" y="258830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6" type="body"/>
          </p:nvPr>
        </p:nvSpPr>
        <p:spPr>
          <a:xfrm>
            <a:off x="4786125" y="286380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7" type="subTitle"/>
          </p:nvPr>
        </p:nvSpPr>
        <p:spPr>
          <a:xfrm>
            <a:off x="4849100" y="375990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8" type="body"/>
          </p:nvPr>
        </p:nvSpPr>
        <p:spPr>
          <a:xfrm>
            <a:off x="4786125" y="403540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2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Bullet_3">
  <p:cSld name="ONE_COLUMN_TEXT_1_1"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367975" y="314800"/>
            <a:ext cx="4062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4849100" y="46445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786125" y="73995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3" type="subTitle"/>
          </p:nvPr>
        </p:nvSpPr>
        <p:spPr>
          <a:xfrm>
            <a:off x="4849100" y="149565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4" type="body"/>
          </p:nvPr>
        </p:nvSpPr>
        <p:spPr>
          <a:xfrm>
            <a:off x="4786125" y="177115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5" type="subTitle"/>
          </p:nvPr>
        </p:nvSpPr>
        <p:spPr>
          <a:xfrm>
            <a:off x="4849100" y="258830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6" type="body"/>
          </p:nvPr>
        </p:nvSpPr>
        <p:spPr>
          <a:xfrm>
            <a:off x="4786125" y="286380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7" type="subTitle"/>
          </p:nvPr>
        </p:nvSpPr>
        <p:spPr>
          <a:xfrm>
            <a:off x="4849100" y="3759900"/>
            <a:ext cx="380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8" type="body"/>
          </p:nvPr>
        </p:nvSpPr>
        <p:spPr>
          <a:xfrm>
            <a:off x="4786125" y="4035400"/>
            <a:ext cx="38646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9" name="Google Shape;259;p2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+Photo_1">
  <p:cSld name="MAIN_POINT">
    <p:bg>
      <p:bgPr>
        <a:solidFill>
          <a:schemeClr val="dk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>
            <p:ph type="title"/>
          </p:nvPr>
        </p:nvSpPr>
        <p:spPr>
          <a:xfrm>
            <a:off x="367975" y="314875"/>
            <a:ext cx="3975300" cy="14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" name="Google Shape;265;p27"/>
          <p:cNvSpPr txBox="1"/>
          <p:nvPr>
            <p:ph idx="1" type="subTitle"/>
          </p:nvPr>
        </p:nvSpPr>
        <p:spPr>
          <a:xfrm>
            <a:off x="401475" y="2070300"/>
            <a:ext cx="3880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Font typeface="Poppins"/>
              <a:buNone/>
              <a:defRPr b="1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66" name="Google Shape;266;p27"/>
          <p:cNvSpPr txBox="1"/>
          <p:nvPr>
            <p:ph idx="2" type="body"/>
          </p:nvPr>
        </p:nvSpPr>
        <p:spPr>
          <a:xfrm>
            <a:off x="401475" y="2747300"/>
            <a:ext cx="39753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27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rgbClr val="03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+Photo_2">
  <p:cSld name="MAIN_POINT_1"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title"/>
          </p:nvPr>
        </p:nvSpPr>
        <p:spPr>
          <a:xfrm>
            <a:off x="367975" y="314875"/>
            <a:ext cx="3975300" cy="14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28"/>
          <p:cNvSpPr txBox="1"/>
          <p:nvPr>
            <p:ph idx="1" type="subTitle"/>
          </p:nvPr>
        </p:nvSpPr>
        <p:spPr>
          <a:xfrm>
            <a:off x="401475" y="2070300"/>
            <a:ext cx="3880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72" name="Google Shape;272;p28"/>
          <p:cNvSpPr txBox="1"/>
          <p:nvPr>
            <p:ph idx="2" type="body"/>
          </p:nvPr>
        </p:nvSpPr>
        <p:spPr>
          <a:xfrm>
            <a:off x="401475" y="2747300"/>
            <a:ext cx="39753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73" name="Google Shape;27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+Photo_2">
  <p:cSld name="MAIN_POINT_1_1">
    <p:bg>
      <p:bgPr>
        <a:solidFill>
          <a:srgbClr val="0062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367975" y="314875"/>
            <a:ext cx="3975300" cy="14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29"/>
          <p:cNvSpPr txBox="1"/>
          <p:nvPr>
            <p:ph idx="1" type="subTitle"/>
          </p:nvPr>
        </p:nvSpPr>
        <p:spPr>
          <a:xfrm>
            <a:off x="401475" y="2070300"/>
            <a:ext cx="3880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79" name="Google Shape;279;p29"/>
          <p:cNvSpPr txBox="1"/>
          <p:nvPr>
            <p:ph idx="2" type="body"/>
          </p:nvPr>
        </p:nvSpPr>
        <p:spPr>
          <a:xfrm>
            <a:off x="401475" y="2747300"/>
            <a:ext cx="39753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80" name="Google Shape;28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9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_1">
  <p:cSld name="SECTION_TITLE_AND_DESCRIPTION">
    <p:bg>
      <p:bgPr>
        <a:solidFill>
          <a:schemeClr val="dk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30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8" name="Google Shape;288;p30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Font typeface="Poppins"/>
              <a:buNone/>
              <a:defRPr b="1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89" name="Google Shape;289;p30"/>
          <p:cNvSpPr txBox="1"/>
          <p:nvPr>
            <p:ph idx="2" type="body"/>
          </p:nvPr>
        </p:nvSpPr>
        <p:spPr>
          <a:xfrm>
            <a:off x="417200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0" name="Google Shape;290;p30"/>
          <p:cNvSpPr txBox="1"/>
          <p:nvPr>
            <p:ph idx="3" type="body"/>
          </p:nvPr>
        </p:nvSpPr>
        <p:spPr>
          <a:xfrm>
            <a:off x="2547767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1" name="Google Shape;291;p30"/>
          <p:cNvSpPr txBox="1"/>
          <p:nvPr>
            <p:ph idx="4" type="body"/>
          </p:nvPr>
        </p:nvSpPr>
        <p:spPr>
          <a:xfrm>
            <a:off x="4678333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2" name="Google Shape;292;p30"/>
          <p:cNvSpPr txBox="1"/>
          <p:nvPr>
            <p:ph idx="5" type="body"/>
          </p:nvPr>
        </p:nvSpPr>
        <p:spPr>
          <a:xfrm>
            <a:off x="6808900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_2">
  <p:cSld name="SECTION_TITLE_AND_DESCRIPTION_1">
    <p:bg>
      <p:bgPr>
        <a:solidFill>
          <a:srgbClr val="0062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" name="Google Shape;295;p31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2" type="body"/>
          </p:nvPr>
        </p:nvSpPr>
        <p:spPr>
          <a:xfrm>
            <a:off x="417200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1"/>
          <p:cNvSpPr txBox="1"/>
          <p:nvPr>
            <p:ph idx="3" type="body"/>
          </p:nvPr>
        </p:nvSpPr>
        <p:spPr>
          <a:xfrm>
            <a:off x="2547767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8" name="Google Shape;298;p31"/>
          <p:cNvSpPr txBox="1"/>
          <p:nvPr>
            <p:ph idx="4" type="body"/>
          </p:nvPr>
        </p:nvSpPr>
        <p:spPr>
          <a:xfrm>
            <a:off x="4678333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5" type="body"/>
          </p:nvPr>
        </p:nvSpPr>
        <p:spPr>
          <a:xfrm>
            <a:off x="6808900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00" name="Google Shape;30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1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_3">
  <p:cSld name="SECTION_TITLE_AND_DESCRIPTION_1_1">
    <p:bg>
      <p:bgPr>
        <a:solidFill>
          <a:srgbClr val="00000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" name="Google Shape;305;p32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06" name="Google Shape;306;p32"/>
          <p:cNvSpPr txBox="1"/>
          <p:nvPr>
            <p:ph idx="2" type="body"/>
          </p:nvPr>
        </p:nvSpPr>
        <p:spPr>
          <a:xfrm>
            <a:off x="417200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32"/>
          <p:cNvSpPr txBox="1"/>
          <p:nvPr>
            <p:ph idx="3" type="body"/>
          </p:nvPr>
        </p:nvSpPr>
        <p:spPr>
          <a:xfrm>
            <a:off x="2547767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32"/>
          <p:cNvSpPr txBox="1"/>
          <p:nvPr>
            <p:ph idx="4" type="body"/>
          </p:nvPr>
        </p:nvSpPr>
        <p:spPr>
          <a:xfrm>
            <a:off x="4678333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32"/>
          <p:cNvSpPr txBox="1"/>
          <p:nvPr>
            <p:ph idx="5" type="body"/>
          </p:nvPr>
        </p:nvSpPr>
        <p:spPr>
          <a:xfrm>
            <a:off x="6808900" y="2227750"/>
            <a:ext cx="1842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10" name="Google Shape;31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+Photo_1">
  <p:cSld name="SECTION_TITLE_AND_DESCRIPTION_2">
    <p:bg>
      <p:bgPr>
        <a:solidFill>
          <a:schemeClr val="dk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33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Font typeface="Poppins"/>
              <a:buNone/>
              <a:defRPr b="1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19" name="Google Shape;319;p33"/>
          <p:cNvSpPr txBox="1"/>
          <p:nvPr>
            <p:ph idx="2" type="body"/>
          </p:nvPr>
        </p:nvSpPr>
        <p:spPr>
          <a:xfrm>
            <a:off x="417200" y="200317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20" name="Google Shape;320;p33"/>
          <p:cNvSpPr txBox="1"/>
          <p:nvPr>
            <p:ph idx="3" type="body"/>
          </p:nvPr>
        </p:nvSpPr>
        <p:spPr>
          <a:xfrm>
            <a:off x="4677200" y="200317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21" name="Google Shape;321;p33"/>
          <p:cNvSpPr/>
          <p:nvPr>
            <p:ph idx="4" type="pic"/>
          </p:nvPr>
        </p:nvSpPr>
        <p:spPr>
          <a:xfrm>
            <a:off x="368075" y="3020351"/>
            <a:ext cx="8282700" cy="1621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+Photo_2">
  <p:cSld name="SECTION_TITLE_AND_DESCRIPTION_2_1">
    <p:bg>
      <p:bgPr>
        <a:solidFill>
          <a:srgbClr val="0062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4" name="Google Shape;324;p34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25" name="Google Shape;325;p34"/>
          <p:cNvSpPr txBox="1"/>
          <p:nvPr>
            <p:ph idx="2" type="body"/>
          </p:nvPr>
        </p:nvSpPr>
        <p:spPr>
          <a:xfrm>
            <a:off x="417200" y="200317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" name="Google Shape;326;p34"/>
          <p:cNvSpPr txBox="1"/>
          <p:nvPr>
            <p:ph idx="3" type="body"/>
          </p:nvPr>
        </p:nvSpPr>
        <p:spPr>
          <a:xfrm>
            <a:off x="4677200" y="200317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27" name="Google Shape;32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p34"/>
          <p:cNvSpPr/>
          <p:nvPr>
            <p:ph idx="4" type="pic"/>
          </p:nvPr>
        </p:nvSpPr>
        <p:spPr>
          <a:xfrm>
            <a:off x="368075" y="3020351"/>
            <a:ext cx="8282700" cy="1621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+Photo_3">
  <p:cSld name="SECTION_TITLE_AND_DESCRIPTION_2_1_1">
    <p:bg>
      <p:bgPr>
        <a:solidFill>
          <a:srgbClr val="00000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35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34" name="Google Shape;334;p35"/>
          <p:cNvSpPr txBox="1"/>
          <p:nvPr>
            <p:ph idx="2" type="body"/>
          </p:nvPr>
        </p:nvSpPr>
        <p:spPr>
          <a:xfrm>
            <a:off x="417200" y="200317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35"/>
          <p:cNvSpPr txBox="1"/>
          <p:nvPr>
            <p:ph idx="3" type="body"/>
          </p:nvPr>
        </p:nvSpPr>
        <p:spPr>
          <a:xfrm>
            <a:off x="4677200" y="200317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36" name="Google Shape;33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35"/>
          <p:cNvSpPr/>
          <p:nvPr>
            <p:ph idx="4" type="pic"/>
          </p:nvPr>
        </p:nvSpPr>
        <p:spPr>
          <a:xfrm>
            <a:off x="368075" y="3020351"/>
            <a:ext cx="8282700" cy="1621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+Texte+Citation_1">
  <p:cSld name="CAPTION_ONLY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type="title"/>
          </p:nvPr>
        </p:nvSpPr>
        <p:spPr>
          <a:xfrm>
            <a:off x="367975" y="314875"/>
            <a:ext cx="33336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2" name="Google Shape;34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36"/>
          <p:cNvSpPr txBox="1"/>
          <p:nvPr>
            <p:ph idx="1" type="subTitle"/>
          </p:nvPr>
        </p:nvSpPr>
        <p:spPr>
          <a:xfrm>
            <a:off x="4653100" y="436000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Font typeface="Poppins"/>
              <a:buNone/>
              <a:defRPr b="1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46" name="Google Shape;346;p36"/>
          <p:cNvSpPr txBox="1"/>
          <p:nvPr>
            <p:ph idx="2" type="body"/>
          </p:nvPr>
        </p:nvSpPr>
        <p:spPr>
          <a:xfrm>
            <a:off x="4653100" y="107392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</a:lstStyle>
          <a:p/>
        </p:txBody>
      </p:sp>
      <p:sp>
        <p:nvSpPr>
          <p:cNvPr id="347" name="Google Shape;347;p36"/>
          <p:cNvSpPr/>
          <p:nvPr>
            <p:ph idx="3" type="pic"/>
          </p:nvPr>
        </p:nvSpPr>
        <p:spPr>
          <a:xfrm>
            <a:off x="4698950" y="3050125"/>
            <a:ext cx="695400" cy="7026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36"/>
          <p:cNvSpPr txBox="1"/>
          <p:nvPr>
            <p:ph idx="4" type="body"/>
          </p:nvPr>
        </p:nvSpPr>
        <p:spPr>
          <a:xfrm>
            <a:off x="5394350" y="3748050"/>
            <a:ext cx="3256500" cy="89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>
                <a:solidFill>
                  <a:schemeClr val="dk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+Texte+Citation_2">
  <p:cSld name="CAPTION_ONLY_1">
    <p:bg>
      <p:bgPr>
        <a:solidFill>
          <a:srgbClr val="0062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 txBox="1"/>
          <p:nvPr>
            <p:ph type="title"/>
          </p:nvPr>
        </p:nvSpPr>
        <p:spPr>
          <a:xfrm>
            <a:off x="367975" y="314875"/>
            <a:ext cx="33336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37"/>
          <p:cNvSpPr txBox="1"/>
          <p:nvPr>
            <p:ph idx="1" type="subTitle"/>
          </p:nvPr>
        </p:nvSpPr>
        <p:spPr>
          <a:xfrm>
            <a:off x="4653100" y="436000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52" name="Google Shape;352;p37"/>
          <p:cNvSpPr txBox="1"/>
          <p:nvPr>
            <p:ph idx="2" type="body"/>
          </p:nvPr>
        </p:nvSpPr>
        <p:spPr>
          <a:xfrm>
            <a:off x="4653100" y="107392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37"/>
          <p:cNvSpPr/>
          <p:nvPr>
            <p:ph idx="3" type="pic"/>
          </p:nvPr>
        </p:nvSpPr>
        <p:spPr>
          <a:xfrm>
            <a:off x="4698950" y="3050125"/>
            <a:ext cx="695400" cy="70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7"/>
          <p:cNvSpPr txBox="1"/>
          <p:nvPr>
            <p:ph idx="4" type="body"/>
          </p:nvPr>
        </p:nvSpPr>
        <p:spPr>
          <a:xfrm>
            <a:off x="5394350" y="3748050"/>
            <a:ext cx="3256500" cy="89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 b="1">
                <a:solidFill>
                  <a:srgbClr val="333333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■"/>
              <a:defRPr>
                <a:solidFill>
                  <a:srgbClr val="333333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>
                <a:solidFill>
                  <a:srgbClr val="333333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■"/>
              <a:defRPr>
                <a:solidFill>
                  <a:srgbClr val="333333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>
                <a:solidFill>
                  <a:srgbClr val="333333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■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55" name="Google Shape;355;p37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7" name="Google Shape;35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+Texte+Citation_2">
  <p:cSld name="CAPTION_ONLY_1_1">
    <p:bg>
      <p:bgPr>
        <a:solidFill>
          <a:srgbClr val="000000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/>
          <p:nvPr>
            <p:ph type="title"/>
          </p:nvPr>
        </p:nvSpPr>
        <p:spPr>
          <a:xfrm>
            <a:off x="367975" y="314875"/>
            <a:ext cx="33336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0" name="Google Shape;360;p38"/>
          <p:cNvSpPr txBox="1"/>
          <p:nvPr>
            <p:ph idx="1" type="subTitle"/>
          </p:nvPr>
        </p:nvSpPr>
        <p:spPr>
          <a:xfrm>
            <a:off x="4653100" y="436000"/>
            <a:ext cx="523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61" name="Google Shape;361;p38"/>
          <p:cNvSpPr txBox="1"/>
          <p:nvPr>
            <p:ph idx="2" type="body"/>
          </p:nvPr>
        </p:nvSpPr>
        <p:spPr>
          <a:xfrm>
            <a:off x="4653100" y="1073925"/>
            <a:ext cx="4260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2" name="Google Shape;362;p38"/>
          <p:cNvSpPr/>
          <p:nvPr>
            <p:ph idx="3" type="pic"/>
          </p:nvPr>
        </p:nvSpPr>
        <p:spPr>
          <a:xfrm>
            <a:off x="4698950" y="3050125"/>
            <a:ext cx="695400" cy="7026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38"/>
          <p:cNvSpPr txBox="1"/>
          <p:nvPr>
            <p:ph idx="4" type="body"/>
          </p:nvPr>
        </p:nvSpPr>
        <p:spPr>
          <a:xfrm>
            <a:off x="5394350" y="3748050"/>
            <a:ext cx="3256500" cy="89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b="1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64" name="Google Shape;364;p3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6" name="Google Shape;36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1">
  <p:cSld name="BIG_NUMBER">
    <p:bg>
      <p:bgPr>
        <a:solidFill>
          <a:schemeClr val="dk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9" name="Google Shape;369;p39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39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72" name="Google Shape;372;p39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39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39"/>
          <p:cNvSpPr/>
          <p:nvPr>
            <p:ph idx="6" type="pic"/>
          </p:nvPr>
        </p:nvSpPr>
        <p:spPr>
          <a:xfrm>
            <a:off x="68542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39"/>
          <p:cNvSpPr txBox="1"/>
          <p:nvPr>
            <p:ph idx="7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76" name="Google Shape;376;p39"/>
          <p:cNvSpPr txBox="1"/>
          <p:nvPr>
            <p:ph idx="8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77" name="Google Shape;377;p39"/>
          <p:cNvSpPr txBox="1"/>
          <p:nvPr>
            <p:ph idx="9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78" name="Google Shape;378;p39"/>
          <p:cNvSpPr txBox="1"/>
          <p:nvPr>
            <p:ph idx="13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79" name="Google Shape;379;p39"/>
          <p:cNvSpPr txBox="1"/>
          <p:nvPr>
            <p:ph idx="14" type="subTitle"/>
          </p:nvPr>
        </p:nvSpPr>
        <p:spPr>
          <a:xfrm>
            <a:off x="685416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80" name="Google Shape;380;p39"/>
          <p:cNvSpPr txBox="1"/>
          <p:nvPr>
            <p:ph idx="15" type="body"/>
          </p:nvPr>
        </p:nvSpPr>
        <p:spPr>
          <a:xfrm>
            <a:off x="688513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id="381" name="Google Shape;38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9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9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1 1">
  <p:cSld name="BIG_NUMBER_2">
    <p:bg>
      <p:bgPr>
        <a:solidFill>
          <a:schemeClr val="dk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6" name="Google Shape;386;p40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40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88" name="Google Shape;388;p40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89" name="Google Shape;389;p40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0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40"/>
          <p:cNvSpPr txBox="1"/>
          <p:nvPr>
            <p:ph idx="6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92" name="Google Shape;392;p40"/>
          <p:cNvSpPr txBox="1"/>
          <p:nvPr>
            <p:ph idx="7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3" name="Google Shape;393;p40"/>
          <p:cNvSpPr txBox="1"/>
          <p:nvPr>
            <p:ph idx="8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94" name="Google Shape;394;p40"/>
          <p:cNvSpPr txBox="1"/>
          <p:nvPr>
            <p:ph idx="9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id="395" name="Google Shape;39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0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2">
  <p:cSld name="BIG_NUMBER_1">
    <p:bg>
      <p:bgPr>
        <a:solidFill>
          <a:srgbClr val="0062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0" name="Google Shape;400;p41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1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02" name="Google Shape;402;p41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41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41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1"/>
          <p:cNvSpPr/>
          <p:nvPr>
            <p:ph idx="6" type="pic"/>
          </p:nvPr>
        </p:nvSpPr>
        <p:spPr>
          <a:xfrm>
            <a:off x="68542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1"/>
          <p:cNvSpPr txBox="1"/>
          <p:nvPr>
            <p:ph idx="7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07" name="Google Shape;407;p41"/>
          <p:cNvSpPr txBox="1"/>
          <p:nvPr>
            <p:ph idx="8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1"/>
          <p:cNvSpPr txBox="1"/>
          <p:nvPr>
            <p:ph idx="9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09" name="Google Shape;409;p41"/>
          <p:cNvSpPr txBox="1"/>
          <p:nvPr>
            <p:ph idx="13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0" name="Google Shape;410;p41"/>
          <p:cNvSpPr txBox="1"/>
          <p:nvPr>
            <p:ph idx="14" type="subTitle"/>
          </p:nvPr>
        </p:nvSpPr>
        <p:spPr>
          <a:xfrm>
            <a:off x="685416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11" name="Google Shape;411;p41"/>
          <p:cNvSpPr txBox="1"/>
          <p:nvPr>
            <p:ph idx="15" type="body"/>
          </p:nvPr>
        </p:nvSpPr>
        <p:spPr>
          <a:xfrm>
            <a:off x="688513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12" name="Google Shape;41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1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1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2 1">
  <p:cSld name="BIG_NUMBER_1_2">
    <p:bg>
      <p:bgPr>
        <a:solidFill>
          <a:srgbClr val="0062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42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2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19" name="Google Shape;419;p42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42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2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2"/>
          <p:cNvSpPr txBox="1"/>
          <p:nvPr>
            <p:ph idx="6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23" name="Google Shape;423;p42"/>
          <p:cNvSpPr txBox="1"/>
          <p:nvPr>
            <p:ph idx="7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4" name="Google Shape;424;p42"/>
          <p:cNvSpPr txBox="1"/>
          <p:nvPr>
            <p:ph idx="8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25" name="Google Shape;425;p42"/>
          <p:cNvSpPr txBox="1"/>
          <p:nvPr>
            <p:ph idx="9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26" name="Google Shape;42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2">
  <p:cSld name="BIG_NUMBER_1_1">
    <p:bg>
      <p:bgPr>
        <a:solidFill>
          <a:srgbClr val="000000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3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1" name="Google Shape;431;p43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3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33" name="Google Shape;433;p43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4" name="Google Shape;434;p43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3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43"/>
          <p:cNvSpPr/>
          <p:nvPr>
            <p:ph idx="6" type="pic"/>
          </p:nvPr>
        </p:nvSpPr>
        <p:spPr>
          <a:xfrm>
            <a:off x="68542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43"/>
          <p:cNvSpPr txBox="1"/>
          <p:nvPr>
            <p:ph idx="7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38" name="Google Shape;438;p43"/>
          <p:cNvSpPr txBox="1"/>
          <p:nvPr>
            <p:ph idx="8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43"/>
          <p:cNvSpPr txBox="1"/>
          <p:nvPr>
            <p:ph idx="9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40" name="Google Shape;440;p43"/>
          <p:cNvSpPr txBox="1"/>
          <p:nvPr>
            <p:ph idx="13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1" name="Google Shape;441;p43"/>
          <p:cNvSpPr txBox="1"/>
          <p:nvPr>
            <p:ph idx="14" type="subTitle"/>
          </p:nvPr>
        </p:nvSpPr>
        <p:spPr>
          <a:xfrm>
            <a:off x="685416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42" name="Google Shape;442;p43"/>
          <p:cNvSpPr txBox="1"/>
          <p:nvPr>
            <p:ph idx="15" type="body"/>
          </p:nvPr>
        </p:nvSpPr>
        <p:spPr>
          <a:xfrm>
            <a:off x="688513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43" name="Google Shape;44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2 2">
  <p:cSld name="BIG_NUMBER_1_1_1">
    <p:bg>
      <p:bgPr>
        <a:solidFill>
          <a:srgbClr val="000000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4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8" name="Google Shape;448;p44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4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50" name="Google Shape;450;p44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1" name="Google Shape;451;p44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44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4"/>
          <p:cNvSpPr txBox="1"/>
          <p:nvPr>
            <p:ph idx="6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54" name="Google Shape;454;p44"/>
          <p:cNvSpPr txBox="1"/>
          <p:nvPr>
            <p:ph idx="7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5" name="Google Shape;455;p44"/>
          <p:cNvSpPr txBox="1"/>
          <p:nvPr>
            <p:ph idx="8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56" name="Google Shape;456;p44"/>
          <p:cNvSpPr txBox="1"/>
          <p:nvPr>
            <p:ph idx="9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57" name="Google Shape;45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_1reANNEE" type="blank">
  <p:cSld name="BLANK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45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5" name="Google Shape;465;p45"/>
          <p:cNvSpPr txBox="1"/>
          <p:nvPr>
            <p:ph idx="1" type="subTitle"/>
          </p:nvPr>
        </p:nvSpPr>
        <p:spPr>
          <a:xfrm>
            <a:off x="402675" y="1091875"/>
            <a:ext cx="5955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862"/>
              </a:buClr>
              <a:buSzPts val="1300"/>
              <a:buNone/>
              <a:defRPr b="1" sz="1300">
                <a:solidFill>
                  <a:srgbClr val="FF686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66" name="Google Shape;466;p45"/>
          <p:cNvSpPr txBox="1"/>
          <p:nvPr>
            <p:ph idx="2" type="body"/>
          </p:nvPr>
        </p:nvSpPr>
        <p:spPr>
          <a:xfrm>
            <a:off x="371700" y="1471325"/>
            <a:ext cx="56220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7" name="Google Shape;467;p45"/>
          <p:cNvSpPr txBox="1"/>
          <p:nvPr>
            <p:ph idx="3" type="subTitle"/>
          </p:nvPr>
        </p:nvSpPr>
        <p:spPr>
          <a:xfrm>
            <a:off x="402675" y="2245775"/>
            <a:ext cx="1703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None/>
              <a:defRPr b="1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68" name="Google Shape;468;p45"/>
          <p:cNvSpPr txBox="1"/>
          <p:nvPr>
            <p:ph idx="4" type="subTitle"/>
          </p:nvPr>
        </p:nvSpPr>
        <p:spPr>
          <a:xfrm>
            <a:off x="3081925" y="2245775"/>
            <a:ext cx="1703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None/>
              <a:defRPr b="1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69" name="Google Shape;469;p45"/>
          <p:cNvSpPr txBox="1"/>
          <p:nvPr>
            <p:ph idx="5" type="body"/>
          </p:nvPr>
        </p:nvSpPr>
        <p:spPr>
          <a:xfrm>
            <a:off x="3050950" y="2744321"/>
            <a:ext cx="22458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0" name="Google Shape;470;p45"/>
          <p:cNvSpPr txBox="1"/>
          <p:nvPr>
            <p:ph idx="6" type="subTitle"/>
          </p:nvPr>
        </p:nvSpPr>
        <p:spPr>
          <a:xfrm>
            <a:off x="5881775" y="2245775"/>
            <a:ext cx="1703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None/>
              <a:defRPr b="1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71" name="Google Shape;471;p45"/>
          <p:cNvSpPr txBox="1"/>
          <p:nvPr>
            <p:ph idx="7" type="body"/>
          </p:nvPr>
        </p:nvSpPr>
        <p:spPr>
          <a:xfrm>
            <a:off x="5850800" y="2744321"/>
            <a:ext cx="22458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2" name="Google Shape;472;p45"/>
          <p:cNvSpPr txBox="1"/>
          <p:nvPr>
            <p:ph idx="8" type="body"/>
          </p:nvPr>
        </p:nvSpPr>
        <p:spPr>
          <a:xfrm>
            <a:off x="371700" y="2744321"/>
            <a:ext cx="22458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_2eANNEE">
  <p:cSld name="BLANK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p46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46"/>
          <p:cNvSpPr txBox="1"/>
          <p:nvPr>
            <p:ph idx="1" type="subTitle"/>
          </p:nvPr>
        </p:nvSpPr>
        <p:spPr>
          <a:xfrm>
            <a:off x="402675" y="1091875"/>
            <a:ext cx="5955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862"/>
              </a:buClr>
              <a:buSzPts val="1300"/>
              <a:buNone/>
              <a:defRPr b="1" sz="1300">
                <a:solidFill>
                  <a:srgbClr val="FF686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79" name="Google Shape;479;p46"/>
          <p:cNvSpPr txBox="1"/>
          <p:nvPr/>
        </p:nvSpPr>
        <p:spPr>
          <a:xfrm>
            <a:off x="6462750" y="2092300"/>
            <a:ext cx="2187900" cy="2549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92600" lIns="201150" spcFirstLastPara="1" rIns="201150" wrap="square" tIns="2468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46"/>
          <p:cNvSpPr/>
          <p:nvPr/>
        </p:nvSpPr>
        <p:spPr>
          <a:xfrm>
            <a:off x="6052050" y="1681600"/>
            <a:ext cx="410700" cy="41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8874" y="1744300"/>
            <a:ext cx="257049" cy="28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6"/>
          <p:cNvSpPr txBox="1"/>
          <p:nvPr>
            <p:ph idx="2" type="body"/>
          </p:nvPr>
        </p:nvSpPr>
        <p:spPr>
          <a:xfrm>
            <a:off x="6652000" y="2299950"/>
            <a:ext cx="17811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3" name="Google Shape;483;p46"/>
          <p:cNvSpPr txBox="1"/>
          <p:nvPr>
            <p:ph idx="3" type="subTitle"/>
          </p:nvPr>
        </p:nvSpPr>
        <p:spPr>
          <a:xfrm>
            <a:off x="402675" y="1681600"/>
            <a:ext cx="1703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None/>
              <a:defRPr b="1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84" name="Google Shape;484;p46"/>
          <p:cNvSpPr txBox="1"/>
          <p:nvPr>
            <p:ph idx="4" type="body"/>
          </p:nvPr>
        </p:nvSpPr>
        <p:spPr>
          <a:xfrm>
            <a:off x="371700" y="2180150"/>
            <a:ext cx="5304600" cy="24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o_Colonnes_1">
  <p:cSld name="BLANK_1_1">
    <p:bg>
      <p:bgPr>
        <a:solidFill>
          <a:srgbClr val="0062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7" name="Google Shape;487;p47"/>
          <p:cNvSpPr/>
          <p:nvPr>
            <p:ph idx="2" type="pic"/>
          </p:nvPr>
        </p:nvSpPr>
        <p:spPr>
          <a:xfrm>
            <a:off x="433675" y="1701988"/>
            <a:ext cx="917100" cy="9171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88" name="Google Shape;48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47"/>
          <p:cNvSpPr txBox="1"/>
          <p:nvPr>
            <p:ph idx="1" type="subTitle"/>
          </p:nvPr>
        </p:nvSpPr>
        <p:spPr>
          <a:xfrm>
            <a:off x="387200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91" name="Google Shape;491;p47"/>
          <p:cNvSpPr/>
          <p:nvPr>
            <p:ph idx="3" type="pic"/>
          </p:nvPr>
        </p:nvSpPr>
        <p:spPr>
          <a:xfrm>
            <a:off x="2618613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2" name="Google Shape;492;p47"/>
          <p:cNvSpPr txBox="1"/>
          <p:nvPr>
            <p:ph idx="4" type="subTitle"/>
          </p:nvPr>
        </p:nvSpPr>
        <p:spPr>
          <a:xfrm>
            <a:off x="2595383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93" name="Google Shape;493;p47"/>
          <p:cNvSpPr txBox="1"/>
          <p:nvPr>
            <p:ph idx="5" type="body"/>
          </p:nvPr>
        </p:nvSpPr>
        <p:spPr>
          <a:xfrm>
            <a:off x="2595375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4" name="Google Shape;494;p47"/>
          <p:cNvSpPr/>
          <p:nvPr>
            <p:ph idx="6" type="pic"/>
          </p:nvPr>
        </p:nvSpPr>
        <p:spPr>
          <a:xfrm>
            <a:off x="4803575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5" name="Google Shape;495;p47"/>
          <p:cNvSpPr txBox="1"/>
          <p:nvPr>
            <p:ph idx="7" type="subTitle"/>
          </p:nvPr>
        </p:nvSpPr>
        <p:spPr>
          <a:xfrm>
            <a:off x="4803567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96" name="Google Shape;496;p47"/>
          <p:cNvSpPr txBox="1"/>
          <p:nvPr>
            <p:ph idx="8" type="body"/>
          </p:nvPr>
        </p:nvSpPr>
        <p:spPr>
          <a:xfrm>
            <a:off x="4807438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47"/>
          <p:cNvSpPr/>
          <p:nvPr>
            <p:ph idx="9" type="pic"/>
          </p:nvPr>
        </p:nvSpPr>
        <p:spPr>
          <a:xfrm>
            <a:off x="7058200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8" name="Google Shape;498;p47"/>
          <p:cNvSpPr txBox="1"/>
          <p:nvPr>
            <p:ph idx="13" type="subTitle"/>
          </p:nvPr>
        </p:nvSpPr>
        <p:spPr>
          <a:xfrm>
            <a:off x="7011750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99" name="Google Shape;499;p47"/>
          <p:cNvSpPr txBox="1"/>
          <p:nvPr>
            <p:ph idx="14" type="body"/>
          </p:nvPr>
        </p:nvSpPr>
        <p:spPr>
          <a:xfrm>
            <a:off x="7019500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47"/>
          <p:cNvSpPr txBox="1"/>
          <p:nvPr>
            <p:ph idx="15" type="body"/>
          </p:nvPr>
        </p:nvSpPr>
        <p:spPr>
          <a:xfrm>
            <a:off x="394950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o_Colonnes_2">
  <p:cSld name="BLANK_1_1_2">
    <p:bg>
      <p:bgPr>
        <a:solidFill>
          <a:schemeClr val="dk1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3" name="Google Shape;503;p48"/>
          <p:cNvSpPr/>
          <p:nvPr>
            <p:ph idx="2" type="pic"/>
          </p:nvPr>
        </p:nvSpPr>
        <p:spPr>
          <a:xfrm>
            <a:off x="433675" y="1701988"/>
            <a:ext cx="917100" cy="9171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504" name="Google Shape;50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/>
          <p:nvPr/>
        </p:nvSpPr>
        <p:spPr>
          <a:xfrm>
            <a:off x="1278050" y="4814725"/>
            <a:ext cx="1631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_xxxxxxxxxxxxxxxxxxxxxxxx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6" name="Google Shape;506;p4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8"/>
          <p:cNvSpPr txBox="1"/>
          <p:nvPr>
            <p:ph idx="1" type="subTitle"/>
          </p:nvPr>
        </p:nvSpPr>
        <p:spPr>
          <a:xfrm>
            <a:off x="387200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08" name="Google Shape;508;p48"/>
          <p:cNvSpPr txBox="1"/>
          <p:nvPr>
            <p:ph idx="3" type="body"/>
          </p:nvPr>
        </p:nvSpPr>
        <p:spPr>
          <a:xfrm>
            <a:off x="394950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9" name="Google Shape;509;p48"/>
          <p:cNvSpPr/>
          <p:nvPr>
            <p:ph idx="4" type="pic"/>
          </p:nvPr>
        </p:nvSpPr>
        <p:spPr>
          <a:xfrm>
            <a:off x="2618613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0" name="Google Shape;510;p48"/>
          <p:cNvSpPr txBox="1"/>
          <p:nvPr>
            <p:ph idx="5" type="subTitle"/>
          </p:nvPr>
        </p:nvSpPr>
        <p:spPr>
          <a:xfrm>
            <a:off x="2595383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11" name="Google Shape;511;p48"/>
          <p:cNvSpPr txBox="1"/>
          <p:nvPr>
            <p:ph idx="6" type="body"/>
          </p:nvPr>
        </p:nvSpPr>
        <p:spPr>
          <a:xfrm>
            <a:off x="2595375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12" name="Google Shape;512;p48"/>
          <p:cNvSpPr/>
          <p:nvPr>
            <p:ph idx="7" type="pic"/>
          </p:nvPr>
        </p:nvSpPr>
        <p:spPr>
          <a:xfrm>
            <a:off x="4803575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3" name="Google Shape;513;p48"/>
          <p:cNvSpPr txBox="1"/>
          <p:nvPr>
            <p:ph idx="8" type="subTitle"/>
          </p:nvPr>
        </p:nvSpPr>
        <p:spPr>
          <a:xfrm>
            <a:off x="4803567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14" name="Google Shape;514;p48"/>
          <p:cNvSpPr txBox="1"/>
          <p:nvPr>
            <p:ph idx="9" type="body"/>
          </p:nvPr>
        </p:nvSpPr>
        <p:spPr>
          <a:xfrm>
            <a:off x="4807438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15" name="Google Shape;515;p48"/>
          <p:cNvSpPr/>
          <p:nvPr>
            <p:ph idx="13" type="pic"/>
          </p:nvPr>
        </p:nvSpPr>
        <p:spPr>
          <a:xfrm>
            <a:off x="7058200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6" name="Google Shape;516;p48"/>
          <p:cNvSpPr txBox="1"/>
          <p:nvPr>
            <p:ph idx="14" type="subTitle"/>
          </p:nvPr>
        </p:nvSpPr>
        <p:spPr>
          <a:xfrm>
            <a:off x="7011750" y="2772325"/>
            <a:ext cx="1631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17" name="Google Shape;517;p48"/>
          <p:cNvSpPr txBox="1"/>
          <p:nvPr>
            <p:ph idx="15" type="body"/>
          </p:nvPr>
        </p:nvSpPr>
        <p:spPr>
          <a:xfrm>
            <a:off x="7019500" y="3202804"/>
            <a:ext cx="16314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id="518" name="Google Shape;51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lio">
  <p:cSld name="CUSTOM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0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olio bleu">
  <p:cSld name="CUSTOM_1_2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1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1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p51"/>
          <p:cNvSpPr txBox="1"/>
          <p:nvPr>
            <p:ph type="title"/>
          </p:nvPr>
        </p:nvSpPr>
        <p:spPr>
          <a:xfrm>
            <a:off x="230900" y="221300"/>
            <a:ext cx="86301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62FF"/>
              </a:buClr>
              <a:buSzPts val="3200"/>
              <a:buNone/>
              <a:defRPr>
                <a:solidFill>
                  <a:srgbClr val="0362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lio 1">
  <p:cSld name="CUSTOM_1_1">
    <p:bg>
      <p:bgPr>
        <a:solidFill>
          <a:srgbClr val="0362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3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3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3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4" name="Google Shape;53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olio blanc">
  <p:cSld name="CUSTOM_1_1_2">
    <p:bg>
      <p:bgPr>
        <a:solidFill>
          <a:srgbClr val="0362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3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3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3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8" name="Google Shape;53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3"/>
          <p:cNvSpPr txBox="1"/>
          <p:nvPr>
            <p:ph type="title"/>
          </p:nvPr>
        </p:nvSpPr>
        <p:spPr>
          <a:xfrm>
            <a:off x="288625" y="202050"/>
            <a:ext cx="86592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lio NB">
  <p:cSld name="CUSTOM_1_1_1">
    <p:bg>
      <p:bgPr>
        <a:solidFill>
          <a:srgbClr val="000000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5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3" name="Google Shape;543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olio noir">
  <p:cSld name="CUSTOM_1_1_1_1">
    <p:bg>
      <p:bgPr>
        <a:solidFill>
          <a:srgbClr val="000000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7" name="Google Shape;547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5"/>
          <p:cNvSpPr txBox="1"/>
          <p:nvPr>
            <p:ph type="title"/>
          </p:nvPr>
        </p:nvSpPr>
        <p:spPr>
          <a:xfrm>
            <a:off x="288625" y="202050"/>
            <a:ext cx="86592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1">
  <p:cSld name="TITLE_5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6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1 1">
  <p:cSld name="TITLE_5_1">
    <p:bg>
      <p:bgPr>
        <a:solidFill>
          <a:srgbClr val="0062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rmeture">
  <p:cSld name="TITLE_5_1_2">
    <p:bg>
      <p:bgPr>
        <a:solidFill>
          <a:srgbClr val="0062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3650" y="2466375"/>
            <a:ext cx="2236324" cy="21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8"/>
          <p:cNvSpPr txBox="1"/>
          <p:nvPr>
            <p:ph idx="1" type="body"/>
          </p:nvPr>
        </p:nvSpPr>
        <p:spPr>
          <a:xfrm>
            <a:off x="3414775" y="2750150"/>
            <a:ext cx="22362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rmeture 1">
  <p:cSld name="TITLE_5_1_2_1">
    <p:bg>
      <p:bgPr>
        <a:solidFill>
          <a:srgbClr val="000000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3650" y="2466375"/>
            <a:ext cx="2236324" cy="21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9"/>
          <p:cNvSpPr txBox="1"/>
          <p:nvPr>
            <p:ph idx="1" type="body"/>
          </p:nvPr>
        </p:nvSpPr>
        <p:spPr>
          <a:xfrm>
            <a:off x="3414775" y="2750150"/>
            <a:ext cx="22362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1 1 1">
  <p:cSld name="TITLE_5_1_1">
    <p:bg>
      <p:bgPr>
        <a:solidFill>
          <a:srgbClr val="000000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0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>
  <p:cSld name="TITLE_AND_BODY_4">
    <p:bg>
      <p:bgPr>
        <a:gradFill>
          <a:gsLst>
            <a:gs pos="0">
              <a:srgbClr val="FFFFFF"/>
            </a:gs>
            <a:gs pos="100000">
              <a:srgbClr val="DDDDDD"/>
            </a:gs>
          </a:gsLst>
          <a:lin ang="16200038" scaled="0"/>
        </a:gra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4" name="Google Shape;564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5" name="Google Shape;565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3 1">
  <p:cSld name="TITLE_3_1_1">
    <p:bg>
      <p:bgPr>
        <a:solidFill>
          <a:srgbClr val="0062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63"/>
          <p:cNvPicPr preferRelativeResize="0"/>
          <p:nvPr/>
        </p:nvPicPr>
        <p:blipFill rotWithShape="1">
          <a:blip r:embed="rId2">
            <a:alphaModFix/>
          </a:blip>
          <a:srcRect b="11691" l="0" r="0" t="11698"/>
          <a:stretch/>
        </p:blipFill>
        <p:spPr>
          <a:xfrm>
            <a:off x="3773852" y="0"/>
            <a:ext cx="5370146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3"/>
          <p:cNvSpPr/>
          <p:nvPr/>
        </p:nvSpPr>
        <p:spPr>
          <a:xfrm>
            <a:off x="82609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63"/>
          <p:cNvSpPr/>
          <p:nvPr/>
        </p:nvSpPr>
        <p:spPr>
          <a:xfrm>
            <a:off x="4657050" y="35327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63"/>
          <p:cNvSpPr/>
          <p:nvPr/>
        </p:nvSpPr>
        <p:spPr>
          <a:xfrm>
            <a:off x="3655125" y="26495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63"/>
          <p:cNvSpPr/>
          <p:nvPr/>
        </p:nvSpPr>
        <p:spPr>
          <a:xfrm>
            <a:off x="7377725" y="8831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63"/>
          <p:cNvSpPr/>
          <p:nvPr/>
        </p:nvSpPr>
        <p:spPr>
          <a:xfrm>
            <a:off x="3655125" y="8831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63"/>
          <p:cNvSpPr/>
          <p:nvPr/>
        </p:nvSpPr>
        <p:spPr>
          <a:xfrm>
            <a:off x="3655125" y="17663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63"/>
          <p:cNvSpPr/>
          <p:nvPr/>
        </p:nvSpPr>
        <p:spPr>
          <a:xfrm>
            <a:off x="8260925" y="17663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63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7" name="Google Shape;577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54525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oppins"/>
              <a:buNone/>
              <a:defRPr b="1" i="0" sz="3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5975" y="15460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○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■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○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■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○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■"/>
              <a:defRPr b="0" i="0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pcgamingwiki.com/wiki/List_of_Direct3D_11_games" TargetMode="External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hyperlink" Target="https://fr.wikipedia.org/wiki/M%C3%A9moire_tampo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hyperlink" Target="http://www.codinglabs.net/article_world_view_projection_matrix.aspx" TargetMode="External"/><Relationship Id="rId5" Type="http://schemas.openxmlformats.org/officeDocument/2006/relationships/slide" Target="/ppt/slides/slide17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2F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4"/>
          <p:cNvSpPr txBox="1"/>
          <p:nvPr>
            <p:ph type="ctrTitle"/>
          </p:nvPr>
        </p:nvSpPr>
        <p:spPr>
          <a:xfrm>
            <a:off x="358009" y="1331050"/>
            <a:ext cx="3417600" cy="3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HowTo - Direct3D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5"/>
          <p:cNvSpPr txBox="1"/>
          <p:nvPr>
            <p:ph type="title"/>
          </p:nvPr>
        </p:nvSpPr>
        <p:spPr>
          <a:xfrm>
            <a:off x="154700" y="36825"/>
            <a:ext cx="8630100" cy="7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Direct3D</a:t>
            </a:r>
            <a:endParaRPr/>
          </a:p>
        </p:txBody>
      </p:sp>
      <p:sp>
        <p:nvSpPr>
          <p:cNvPr id="588" name="Google Shape;588;p65"/>
          <p:cNvSpPr txBox="1"/>
          <p:nvPr/>
        </p:nvSpPr>
        <p:spPr>
          <a:xfrm>
            <a:off x="5030600" y="1634525"/>
            <a:ext cx="3754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Permet le </a:t>
            </a:r>
            <a:r>
              <a:rPr b="1" lang="en-US" sz="1200"/>
              <a:t>rendu 3D temps réel</a:t>
            </a:r>
            <a:r>
              <a:rPr lang="en-US" sz="1200"/>
              <a:t> (jeux, simulations, outils de création…).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Fonctionne </a:t>
            </a:r>
            <a:r>
              <a:rPr b="1" lang="en-US" sz="1200"/>
              <a:t>près du matériel GPU</a:t>
            </a:r>
            <a:r>
              <a:rPr lang="en-US" sz="1200"/>
              <a:t>, avec </a:t>
            </a:r>
            <a:r>
              <a:rPr b="1" lang="en-US" sz="1200"/>
              <a:t>haut niveau de performance</a:t>
            </a:r>
            <a:r>
              <a:rPr lang="en-US" sz="1200"/>
              <a:t>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Supporte : shaders, buffers, pipeline programmable, post-processing…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Utilisée dans : jeux Windows, moteurs comme Unity (sur Windows), logiciels pro (CAD, visualisation…).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9" name="Google Shape;589;p65"/>
          <p:cNvSpPr txBox="1"/>
          <p:nvPr/>
        </p:nvSpPr>
        <p:spPr>
          <a:xfrm>
            <a:off x="5113500" y="711125"/>
            <a:ext cx="4030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Direct3D</a:t>
            </a:r>
            <a:r>
              <a:rPr lang="en-US" sz="1200"/>
              <a:t> est une</a:t>
            </a:r>
            <a:r>
              <a:rPr b="1" lang="en-US" sz="1200"/>
              <a:t> API graphique</a:t>
            </a:r>
            <a:r>
              <a:rPr lang="en-US" sz="1200"/>
              <a:t> de Microsoft intégrée à DirectX.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Elle: </a:t>
            </a:r>
            <a:endParaRPr sz="1200"/>
          </a:p>
        </p:txBody>
      </p:sp>
      <p:sp>
        <p:nvSpPr>
          <p:cNvPr id="590" name="Google Shape;590;p65"/>
          <p:cNvSpPr txBox="1"/>
          <p:nvPr/>
        </p:nvSpPr>
        <p:spPr>
          <a:xfrm>
            <a:off x="1398675" y="4220525"/>
            <a:ext cx="4376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Le saviez-vous? </a:t>
            </a:r>
            <a:endParaRPr i="1" sz="11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Poppins"/>
                <a:ea typeface="Poppins"/>
                <a:cs typeface="Poppins"/>
                <a:sym typeface="Poppins"/>
              </a:rPr>
              <a:t>Direct3D est utilisé dans le moteur graphique principal de toutes les consoles Xbox depuis la première</a:t>
            </a:r>
            <a:r>
              <a:rPr i="1" lang="en-US" sz="11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i="1" sz="11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p65"/>
          <p:cNvSpPr txBox="1"/>
          <p:nvPr/>
        </p:nvSpPr>
        <p:spPr>
          <a:xfrm>
            <a:off x="6203775" y="4620725"/>
            <a:ext cx="327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 u="sng">
                <a:solidFill>
                  <a:schemeClr val="hlink"/>
                </a:solidFill>
                <a:hlinkClick r:id="rId3"/>
              </a:rPr>
              <a:t>Exemples de jeux utilisant Direct3D</a:t>
            </a:r>
            <a:endParaRPr i="1" sz="1000"/>
          </a:p>
        </p:txBody>
      </p:sp>
      <p:pic>
        <p:nvPicPr>
          <p:cNvPr id="592" name="Google Shape;59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75" y="748725"/>
            <a:ext cx="3960875" cy="35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6"/>
          <p:cNvSpPr txBox="1"/>
          <p:nvPr>
            <p:ph type="title"/>
          </p:nvPr>
        </p:nvSpPr>
        <p:spPr>
          <a:xfrm>
            <a:off x="53800" y="1902000"/>
            <a:ext cx="57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/>
              <a:t>Utilisation de Direct3D</a:t>
            </a:r>
            <a:endParaRPr sz="5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7"/>
          <p:cNvSpPr txBox="1"/>
          <p:nvPr>
            <p:ph type="title"/>
          </p:nvPr>
        </p:nvSpPr>
        <p:spPr>
          <a:xfrm>
            <a:off x="84425" y="146425"/>
            <a:ext cx="6496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Étapes d’utilisation de Direct 3D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7"/>
          <p:cNvSpPr/>
          <p:nvPr/>
        </p:nvSpPr>
        <p:spPr>
          <a:xfrm>
            <a:off x="608075" y="1121600"/>
            <a:ext cx="909900" cy="9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7"/>
          <p:cNvSpPr txBox="1"/>
          <p:nvPr/>
        </p:nvSpPr>
        <p:spPr>
          <a:xfrm>
            <a:off x="455922" y="11216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67"/>
          <p:cNvSpPr txBox="1"/>
          <p:nvPr/>
        </p:nvSpPr>
        <p:spPr>
          <a:xfrm>
            <a:off x="3934175" y="4413475"/>
            <a:ext cx="264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VERTEX SHADER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PIXEL SHADER</a:t>
            </a:r>
            <a:endParaRPr sz="1300"/>
          </a:p>
        </p:txBody>
      </p:sp>
      <p:sp>
        <p:nvSpPr>
          <p:cNvPr id="607" name="Google Shape;607;p67"/>
          <p:cNvSpPr/>
          <p:nvPr/>
        </p:nvSpPr>
        <p:spPr>
          <a:xfrm>
            <a:off x="3024275" y="3143850"/>
            <a:ext cx="909900" cy="9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7"/>
          <p:cNvSpPr txBox="1"/>
          <p:nvPr/>
        </p:nvSpPr>
        <p:spPr>
          <a:xfrm>
            <a:off x="3024522" y="314385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7"/>
          <p:cNvSpPr txBox="1"/>
          <p:nvPr/>
        </p:nvSpPr>
        <p:spPr>
          <a:xfrm>
            <a:off x="3934175" y="3339288"/>
            <a:ext cx="230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DRAW - </a:t>
            </a:r>
            <a:r>
              <a:rPr lang="en-US" sz="1300"/>
              <a:t>Dessin</a:t>
            </a:r>
            <a:r>
              <a:rPr lang="en-US" sz="1300"/>
              <a:t> du Mesh sur la 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7"/>
          <p:cNvSpPr txBox="1"/>
          <p:nvPr/>
        </p:nvSpPr>
        <p:spPr>
          <a:xfrm>
            <a:off x="205722" y="31608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67"/>
          <p:cNvSpPr txBox="1"/>
          <p:nvPr/>
        </p:nvSpPr>
        <p:spPr>
          <a:xfrm>
            <a:off x="1115375" y="3352500"/>
            <a:ext cx="190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CLEAR - Effacement de la </a:t>
            </a:r>
            <a:r>
              <a:rPr lang="en-US" sz="1300"/>
              <a:t>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67"/>
          <p:cNvSpPr txBox="1"/>
          <p:nvPr/>
        </p:nvSpPr>
        <p:spPr>
          <a:xfrm>
            <a:off x="6297622" y="31566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67"/>
          <p:cNvSpPr txBox="1"/>
          <p:nvPr/>
        </p:nvSpPr>
        <p:spPr>
          <a:xfrm>
            <a:off x="7207275" y="3348300"/>
            <a:ext cx="173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DISPLAY - Affichage de la 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67"/>
          <p:cNvSpPr/>
          <p:nvPr/>
        </p:nvSpPr>
        <p:spPr>
          <a:xfrm>
            <a:off x="0" y="2949450"/>
            <a:ext cx="8971200" cy="1272300"/>
          </a:xfrm>
          <a:prstGeom prst="rect">
            <a:avLst/>
          </a:prstGeom>
          <a:noFill/>
          <a:ln cap="flat" cmpd="sng" w="38100">
            <a:solidFill>
              <a:srgbClr val="00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67"/>
          <p:cNvSpPr txBox="1"/>
          <p:nvPr/>
        </p:nvSpPr>
        <p:spPr>
          <a:xfrm>
            <a:off x="230775" y="2581950"/>
            <a:ext cx="626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Effectuer dans la boucle de rendu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6" name="Google Shape;61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3003383">
            <a:off x="6937754" y="1127787"/>
            <a:ext cx="1120363" cy="1453927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7"/>
          <p:cNvSpPr txBox="1"/>
          <p:nvPr/>
        </p:nvSpPr>
        <p:spPr>
          <a:xfrm rot="-2313337">
            <a:off x="897444" y="1546049"/>
            <a:ext cx="489512" cy="4309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X 1</a:t>
            </a:r>
            <a:endParaRPr b="1" sz="16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8" name="Google Shape;618;p67"/>
          <p:cNvSpPr/>
          <p:nvPr/>
        </p:nvSpPr>
        <p:spPr>
          <a:xfrm>
            <a:off x="2940225" y="2982150"/>
            <a:ext cx="3294900" cy="2101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67"/>
          <p:cNvSpPr txBox="1"/>
          <p:nvPr/>
        </p:nvSpPr>
        <p:spPr>
          <a:xfrm>
            <a:off x="3024525" y="4321825"/>
            <a:ext cx="675900" cy="675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3.5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7"/>
          <p:cNvSpPr txBox="1"/>
          <p:nvPr/>
        </p:nvSpPr>
        <p:spPr>
          <a:xfrm>
            <a:off x="1517975" y="1465700"/>
            <a:ext cx="264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INITIALISATION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8"/>
          <p:cNvSpPr txBox="1"/>
          <p:nvPr>
            <p:ph type="ctrTitle"/>
          </p:nvPr>
        </p:nvSpPr>
        <p:spPr>
          <a:xfrm>
            <a:off x="367975" y="1335450"/>
            <a:ext cx="39450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Direct3D Initialization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9"/>
          <p:cNvSpPr txBox="1"/>
          <p:nvPr>
            <p:ph type="title"/>
          </p:nvPr>
        </p:nvSpPr>
        <p:spPr>
          <a:xfrm>
            <a:off x="84425" y="146425"/>
            <a:ext cx="6790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Étapes d’initialisation de Direct 3D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9"/>
          <p:cNvSpPr/>
          <p:nvPr/>
        </p:nvSpPr>
        <p:spPr>
          <a:xfrm>
            <a:off x="1397797" y="1165100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9"/>
          <p:cNvSpPr txBox="1"/>
          <p:nvPr/>
        </p:nvSpPr>
        <p:spPr>
          <a:xfrm>
            <a:off x="1291875" y="1165100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3" name="Google Shape;63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69"/>
          <p:cNvSpPr txBox="1"/>
          <p:nvPr/>
        </p:nvSpPr>
        <p:spPr>
          <a:xfrm>
            <a:off x="1925136" y="1208236"/>
            <a:ext cx="18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Description de la swapchain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635" name="Google Shape;635;p69"/>
          <p:cNvSpPr/>
          <p:nvPr/>
        </p:nvSpPr>
        <p:spPr>
          <a:xfrm>
            <a:off x="1291877" y="2428760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69"/>
          <p:cNvSpPr txBox="1"/>
          <p:nvPr/>
        </p:nvSpPr>
        <p:spPr>
          <a:xfrm>
            <a:off x="1292049" y="2428760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9"/>
          <p:cNvSpPr txBox="1"/>
          <p:nvPr/>
        </p:nvSpPr>
        <p:spPr>
          <a:xfrm>
            <a:off x="1925135" y="2466527"/>
            <a:ext cx="160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Récupération du Back Buffer (color target)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69"/>
          <p:cNvSpPr txBox="1"/>
          <p:nvPr/>
        </p:nvSpPr>
        <p:spPr>
          <a:xfrm>
            <a:off x="1291875" y="1797024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69"/>
          <p:cNvSpPr txBox="1"/>
          <p:nvPr/>
        </p:nvSpPr>
        <p:spPr>
          <a:xfrm>
            <a:off x="1921050" y="1818488"/>
            <a:ext cx="19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Création du Device, du Context et de la swapchain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640" name="Google Shape;640;p69"/>
          <p:cNvSpPr txBox="1"/>
          <p:nvPr/>
        </p:nvSpPr>
        <p:spPr>
          <a:xfrm>
            <a:off x="1291875" y="3110876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69"/>
          <p:cNvSpPr txBox="1"/>
          <p:nvPr/>
        </p:nvSpPr>
        <p:spPr>
          <a:xfrm>
            <a:off x="1925121" y="3114550"/>
            <a:ext cx="160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Création de la Render Target View (RTV)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69"/>
          <p:cNvSpPr/>
          <p:nvPr/>
        </p:nvSpPr>
        <p:spPr>
          <a:xfrm>
            <a:off x="4551385" y="1122786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9"/>
          <p:cNvSpPr txBox="1"/>
          <p:nvPr/>
        </p:nvSpPr>
        <p:spPr>
          <a:xfrm>
            <a:off x="4551211" y="1122786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69"/>
          <p:cNvSpPr txBox="1"/>
          <p:nvPr/>
        </p:nvSpPr>
        <p:spPr>
          <a:xfrm>
            <a:off x="5176126" y="1137675"/>
            <a:ext cx="18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Création de la Depth-Stencil View (DSV)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69"/>
          <p:cNvSpPr txBox="1"/>
          <p:nvPr/>
        </p:nvSpPr>
        <p:spPr>
          <a:xfrm>
            <a:off x="4551208" y="1747627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69"/>
          <p:cNvSpPr txBox="1"/>
          <p:nvPr/>
        </p:nvSpPr>
        <p:spPr>
          <a:xfrm>
            <a:off x="5184500" y="1736350"/>
            <a:ext cx="172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Liaison de la RTV &amp; DSV à l’Output-Merger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69"/>
          <p:cNvSpPr/>
          <p:nvPr/>
        </p:nvSpPr>
        <p:spPr>
          <a:xfrm>
            <a:off x="4551735" y="2372467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69"/>
          <p:cNvSpPr txBox="1"/>
          <p:nvPr/>
        </p:nvSpPr>
        <p:spPr>
          <a:xfrm>
            <a:off x="4551561" y="2372467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8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69"/>
          <p:cNvSpPr txBox="1"/>
          <p:nvPr/>
        </p:nvSpPr>
        <p:spPr>
          <a:xfrm>
            <a:off x="5176475" y="2392125"/>
            <a:ext cx="115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Configuration du Viewport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650" name="Google Shape;650;p69"/>
          <p:cNvSpPr txBox="1"/>
          <p:nvPr/>
        </p:nvSpPr>
        <p:spPr>
          <a:xfrm>
            <a:off x="1292050" y="3793001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69"/>
          <p:cNvSpPr txBox="1"/>
          <p:nvPr/>
        </p:nvSpPr>
        <p:spPr>
          <a:xfrm>
            <a:off x="1925300" y="3796675"/>
            <a:ext cx="18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Création de la texture 2D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69"/>
          <p:cNvSpPr/>
          <p:nvPr/>
        </p:nvSpPr>
        <p:spPr>
          <a:xfrm>
            <a:off x="4551385" y="3052580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69"/>
          <p:cNvSpPr txBox="1"/>
          <p:nvPr/>
        </p:nvSpPr>
        <p:spPr>
          <a:xfrm>
            <a:off x="4551211" y="3052580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9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69"/>
          <p:cNvSpPr txBox="1"/>
          <p:nvPr/>
        </p:nvSpPr>
        <p:spPr>
          <a:xfrm>
            <a:off x="5176125" y="3072250"/>
            <a:ext cx="26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Initialisation des shaders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(</a:t>
            </a:r>
            <a:r>
              <a:rPr lang="en-US" sz="1200"/>
              <a:t>Vertex </a:t>
            </a:r>
            <a:r>
              <a:rPr lang="en-US" sz="1200"/>
              <a:t>Shader  |  Pixel Shader)</a:t>
            </a:r>
            <a:endParaRPr sz="1200"/>
          </a:p>
        </p:txBody>
      </p:sp>
      <p:sp>
        <p:nvSpPr>
          <p:cNvPr id="655" name="Google Shape;655;p69"/>
          <p:cNvSpPr/>
          <p:nvPr/>
        </p:nvSpPr>
        <p:spPr>
          <a:xfrm>
            <a:off x="4551385" y="3734705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69"/>
          <p:cNvSpPr txBox="1"/>
          <p:nvPr/>
        </p:nvSpPr>
        <p:spPr>
          <a:xfrm>
            <a:off x="4551211" y="3734705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10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69"/>
          <p:cNvSpPr txBox="1"/>
          <p:nvPr/>
        </p:nvSpPr>
        <p:spPr>
          <a:xfrm>
            <a:off x="5176125" y="3754363"/>
            <a:ext cx="21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Création de l’Input Layout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0"/>
          <p:cNvSpPr txBox="1"/>
          <p:nvPr>
            <p:ph type="ctrTitle"/>
          </p:nvPr>
        </p:nvSpPr>
        <p:spPr>
          <a:xfrm>
            <a:off x="367975" y="1335450"/>
            <a:ext cx="39450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1"/>
          <p:cNvSpPr txBox="1"/>
          <p:nvPr>
            <p:ph type="title"/>
          </p:nvPr>
        </p:nvSpPr>
        <p:spPr>
          <a:xfrm>
            <a:off x="115450" y="110650"/>
            <a:ext cx="4315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Descriptions</a:t>
            </a:r>
            <a:endParaRPr/>
          </a:p>
        </p:txBody>
      </p:sp>
      <p:sp>
        <p:nvSpPr>
          <p:cNvPr id="668" name="Google Shape;668;p71"/>
          <p:cNvSpPr txBox="1"/>
          <p:nvPr/>
        </p:nvSpPr>
        <p:spPr>
          <a:xfrm>
            <a:off x="729425" y="1255775"/>
            <a:ext cx="433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Dans Direct3D, la plupart des objets GPU sont créés à partir d’une </a:t>
            </a:r>
            <a:r>
              <a:rPr b="1" lang="en-US" sz="1100"/>
              <a:t>structure de description (</a:t>
            </a:r>
            <a:r>
              <a:rPr b="1"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b="1" lang="en-US" sz="1100"/>
              <a:t>)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9" name="Google Shape;669;p71"/>
          <p:cNvSpPr txBox="1"/>
          <p:nvPr/>
        </p:nvSpPr>
        <p:spPr>
          <a:xfrm>
            <a:off x="729425" y="1940075"/>
            <a:ext cx="420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C’est une sorte de fiche technique : on y indique </a:t>
            </a:r>
            <a:r>
              <a:rPr b="1" lang="en-US" sz="1200"/>
              <a:t>comment</a:t>
            </a:r>
            <a:r>
              <a:rPr lang="en-US" sz="1200"/>
              <a:t> l’objet doit être créé (dimensions, format, usage, etc.).</a:t>
            </a:r>
            <a:endParaRPr sz="1500"/>
          </a:p>
        </p:txBody>
      </p:sp>
      <p:sp>
        <p:nvSpPr>
          <p:cNvPr id="670" name="Google Shape;670;p71"/>
          <p:cNvSpPr txBox="1"/>
          <p:nvPr/>
        </p:nvSpPr>
        <p:spPr>
          <a:xfrm>
            <a:off x="729425" y="2842450"/>
            <a:ext cx="55269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Exemples utilisés: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</a:t>
            </a:r>
            <a:r>
              <a:rPr lang="en-US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DXGI_SWAP_CHAIN_DESC</a:t>
            </a:r>
            <a:r>
              <a:rPr lang="en-U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 		</a:t>
            </a:r>
            <a:r>
              <a:rPr lang="en-US" sz="1050"/>
              <a:t>-&gt; description de swapchain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</a:t>
            </a:r>
            <a:r>
              <a:rPr lang="en-US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D3D11_TEXTURE2D_DESC</a:t>
            </a:r>
            <a:r>
              <a:rPr lang="en-U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 		</a:t>
            </a:r>
            <a:r>
              <a:rPr lang="en-US" sz="1050"/>
              <a:t>-&gt; description de texture 2D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</a:t>
            </a:r>
            <a:r>
              <a:rPr lang="en-US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D3D11_BUFFER_DESC</a:t>
            </a:r>
            <a:r>
              <a:rPr lang="en-U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 		</a:t>
            </a:r>
            <a:r>
              <a:rPr lang="en-US" sz="1050"/>
              <a:t>-&gt; description de buffer* direct3D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</a:t>
            </a:r>
            <a:r>
              <a:rPr lang="en-US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D3D11_INPUT_ELEMENT_DESC</a:t>
            </a:r>
            <a:r>
              <a:rPr lang="en-U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en-US" sz="1050"/>
              <a:t>-&gt; description d’input layout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671" name="Google Shape;67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825" y="647341"/>
            <a:ext cx="4083175" cy="2234609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71"/>
          <p:cNvSpPr txBox="1"/>
          <p:nvPr/>
        </p:nvSpPr>
        <p:spPr>
          <a:xfrm>
            <a:off x="6968100" y="3673500"/>
            <a:ext cx="2175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*</a:t>
            </a:r>
            <a:r>
              <a:rPr b="1" lang="en-US" sz="900"/>
              <a:t>Buffer</a:t>
            </a:r>
            <a:r>
              <a:rPr lang="en-US" sz="900"/>
              <a:t>: </a:t>
            </a:r>
            <a:r>
              <a:rPr lang="en-US" sz="900"/>
              <a:t>zone de</a:t>
            </a:r>
            <a:r>
              <a:rPr lang="en-US" sz="900">
                <a:uFill>
                  <a:noFill/>
                </a:uFill>
                <a:hlinkClick r:id="rId4"/>
              </a:rPr>
              <a:t> </a:t>
            </a:r>
            <a:r>
              <a:rPr lang="en-US" sz="1000"/>
              <a:t>mémoire vive</a:t>
            </a:r>
            <a:r>
              <a:rPr lang="en-US" sz="900"/>
              <a:t> ou de disque utilisée pour stocker des données de façon temporaire pendant leur </a:t>
            </a:r>
            <a:r>
              <a:rPr lang="en-US" sz="900"/>
              <a:t>transfert</a:t>
            </a:r>
            <a:r>
              <a:rPr lang="en-US" sz="900"/>
              <a:t> d’un </a:t>
            </a:r>
            <a:r>
              <a:rPr lang="en-US" sz="900"/>
              <a:t>matériel</a:t>
            </a:r>
            <a:r>
              <a:rPr lang="en-US" sz="900"/>
              <a:t> à un autre.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2"/>
          <p:cNvSpPr txBox="1"/>
          <p:nvPr>
            <p:ph type="title"/>
          </p:nvPr>
        </p:nvSpPr>
        <p:spPr>
          <a:xfrm>
            <a:off x="115450" y="110650"/>
            <a:ext cx="4315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Swapchain</a:t>
            </a:r>
            <a:endParaRPr/>
          </a:p>
        </p:txBody>
      </p:sp>
      <p:sp>
        <p:nvSpPr>
          <p:cNvPr id="678" name="Google Shape;678;p72"/>
          <p:cNvSpPr txBox="1"/>
          <p:nvPr/>
        </p:nvSpPr>
        <p:spPr>
          <a:xfrm>
            <a:off x="158950" y="947325"/>
            <a:ext cx="366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première chose à initialiser est la </a:t>
            </a:r>
            <a:r>
              <a:rPr b="1" lang="en-US" sz="1200"/>
              <a:t>swapchain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La swapchain </a:t>
            </a:r>
            <a:r>
              <a:rPr lang="en-US" sz="1200"/>
              <a:t>est une collection de buffers d’image qui sont utilisés pour afficher les frames.</a:t>
            </a:r>
            <a:endParaRPr sz="1200"/>
          </a:p>
        </p:txBody>
      </p:sp>
      <p:sp>
        <p:nvSpPr>
          <p:cNvPr id="679" name="Google Shape;679;p72"/>
          <p:cNvSpPr txBox="1"/>
          <p:nvPr/>
        </p:nvSpPr>
        <p:spPr>
          <a:xfrm>
            <a:off x="1125325" y="2446113"/>
            <a:ext cx="147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FRONT BUFFER</a:t>
            </a:r>
            <a:endParaRPr b="1" sz="1200"/>
          </a:p>
        </p:txBody>
      </p:sp>
      <p:sp>
        <p:nvSpPr>
          <p:cNvPr id="680" name="Google Shape;680;p72"/>
          <p:cNvSpPr txBox="1"/>
          <p:nvPr/>
        </p:nvSpPr>
        <p:spPr>
          <a:xfrm>
            <a:off x="5753650" y="2446113"/>
            <a:ext cx="147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BACK </a:t>
            </a:r>
            <a:r>
              <a:rPr b="1" lang="en-US" sz="1200"/>
              <a:t>BUFFER</a:t>
            </a:r>
            <a:endParaRPr b="1" sz="1200"/>
          </a:p>
        </p:txBody>
      </p:sp>
      <p:sp>
        <p:nvSpPr>
          <p:cNvPr id="681" name="Google Shape;681;p72"/>
          <p:cNvSpPr txBox="1"/>
          <p:nvPr/>
        </p:nvSpPr>
        <p:spPr>
          <a:xfrm>
            <a:off x="454525" y="2776763"/>
            <a:ext cx="281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Buffer d’image actuellement affiché à l’écran</a:t>
            </a:r>
            <a:endParaRPr sz="1000"/>
          </a:p>
        </p:txBody>
      </p:sp>
      <p:sp>
        <p:nvSpPr>
          <p:cNvPr id="682" name="Google Shape;682;p72"/>
          <p:cNvSpPr txBox="1"/>
          <p:nvPr/>
        </p:nvSpPr>
        <p:spPr>
          <a:xfrm>
            <a:off x="5082850" y="2776763"/>
            <a:ext cx="281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Buffer d’image dans lequel on dessine</a:t>
            </a:r>
            <a:endParaRPr sz="1000"/>
          </a:p>
        </p:txBody>
      </p:sp>
      <p:sp>
        <p:nvSpPr>
          <p:cNvPr id="683" name="Google Shape;683;p72"/>
          <p:cNvSpPr txBox="1"/>
          <p:nvPr/>
        </p:nvSpPr>
        <p:spPr>
          <a:xfrm>
            <a:off x="241600" y="4240675"/>
            <a:ext cx="38100" cy="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4" name="Google Shape;684;p72"/>
          <p:cNvSpPr txBox="1"/>
          <p:nvPr/>
        </p:nvSpPr>
        <p:spPr>
          <a:xfrm>
            <a:off x="158950" y="3490450"/>
            <a:ext cx="490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 chaque fois qu’une </a:t>
            </a:r>
            <a:r>
              <a:rPr b="1" lang="en-US" sz="1200"/>
              <a:t>frame est présentée</a:t>
            </a:r>
            <a:r>
              <a:rPr lang="en-US" sz="1200"/>
              <a:t> pour être affichée, on </a:t>
            </a:r>
            <a:r>
              <a:rPr b="1" lang="en-US" sz="1200"/>
              <a:t>échange</a:t>
            </a:r>
            <a:r>
              <a:rPr lang="en-US" sz="1200"/>
              <a:t> le front buffer et le back buffer.</a:t>
            </a:r>
            <a:endParaRPr sz="1200"/>
          </a:p>
        </p:txBody>
      </p:sp>
      <p:cxnSp>
        <p:nvCxnSpPr>
          <p:cNvPr id="685" name="Google Shape;685;p72"/>
          <p:cNvCxnSpPr>
            <a:stCxn id="681" idx="3"/>
            <a:endCxn id="682" idx="1"/>
          </p:cNvCxnSpPr>
          <p:nvPr/>
        </p:nvCxnSpPr>
        <p:spPr>
          <a:xfrm>
            <a:off x="3270925" y="2946113"/>
            <a:ext cx="181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86" name="Google Shape;686;p72"/>
          <p:cNvSpPr txBox="1"/>
          <p:nvPr/>
        </p:nvSpPr>
        <p:spPr>
          <a:xfrm>
            <a:off x="158950" y="4132600"/>
            <a:ext cx="556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Pourquoi l’utiliser?</a:t>
            </a:r>
            <a:r>
              <a:rPr lang="en-US" sz="1200"/>
              <a:t> Car la plupart du temps un moniteur a un taux de </a:t>
            </a:r>
            <a:r>
              <a:rPr lang="en-US" sz="1200"/>
              <a:t>rafraîchissement</a:t>
            </a:r>
            <a:r>
              <a:rPr lang="en-US" sz="1200"/>
              <a:t> plus bas que celui d’un pc.</a:t>
            </a:r>
            <a:endParaRPr sz="1200"/>
          </a:p>
        </p:txBody>
      </p:sp>
      <p:pic>
        <p:nvPicPr>
          <p:cNvPr id="687" name="Google Shape;68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188" y="466750"/>
            <a:ext cx="4223718" cy="16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72"/>
          <p:cNvSpPr/>
          <p:nvPr/>
        </p:nvSpPr>
        <p:spPr>
          <a:xfrm>
            <a:off x="4336050" y="1977300"/>
            <a:ext cx="1316100" cy="203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3"/>
          <p:cNvSpPr txBox="1"/>
          <p:nvPr>
            <p:ph type="title"/>
          </p:nvPr>
        </p:nvSpPr>
        <p:spPr>
          <a:xfrm>
            <a:off x="115450" y="110650"/>
            <a:ext cx="4315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Device &amp; Context</a:t>
            </a:r>
            <a:endParaRPr/>
          </a:p>
        </p:txBody>
      </p:sp>
      <p:cxnSp>
        <p:nvCxnSpPr>
          <p:cNvPr id="694" name="Google Shape;694;p73"/>
          <p:cNvCxnSpPr/>
          <p:nvPr/>
        </p:nvCxnSpPr>
        <p:spPr>
          <a:xfrm>
            <a:off x="4430650" y="1005700"/>
            <a:ext cx="0" cy="376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73"/>
          <p:cNvSpPr txBox="1"/>
          <p:nvPr/>
        </p:nvSpPr>
        <p:spPr>
          <a:xfrm>
            <a:off x="1798600" y="1036350"/>
            <a:ext cx="94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Device</a:t>
            </a:r>
            <a:endParaRPr b="1" sz="1600"/>
          </a:p>
        </p:txBody>
      </p:sp>
      <p:sp>
        <p:nvSpPr>
          <p:cNvPr id="696" name="Google Shape;696;p73"/>
          <p:cNvSpPr txBox="1"/>
          <p:nvPr/>
        </p:nvSpPr>
        <p:spPr>
          <a:xfrm>
            <a:off x="5677650" y="1036350"/>
            <a:ext cx="263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Context (Device Context)</a:t>
            </a:r>
            <a:endParaRPr b="1" sz="1600"/>
          </a:p>
        </p:txBody>
      </p:sp>
      <p:sp>
        <p:nvSpPr>
          <p:cNvPr id="697" name="Google Shape;697;p73"/>
          <p:cNvSpPr txBox="1"/>
          <p:nvPr/>
        </p:nvSpPr>
        <p:spPr>
          <a:xfrm>
            <a:off x="1122550" y="1646825"/>
            <a:ext cx="23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/>
              <a:t>Représente la carte graphique</a:t>
            </a:r>
            <a:endParaRPr sz="1200" u="sng"/>
          </a:p>
        </p:txBody>
      </p:sp>
      <p:sp>
        <p:nvSpPr>
          <p:cNvPr id="698" name="Google Shape;698;p73"/>
          <p:cNvSpPr txBox="1"/>
          <p:nvPr/>
        </p:nvSpPr>
        <p:spPr>
          <a:xfrm>
            <a:off x="584800" y="2641600"/>
            <a:ext cx="337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Sert à créer </a:t>
            </a:r>
            <a:r>
              <a:rPr b="1" lang="en-US" sz="1200"/>
              <a:t>tous les objets GPU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 (textures, buffers, shaders…)</a:t>
            </a:r>
            <a:endParaRPr sz="1200"/>
          </a:p>
        </p:txBody>
      </p:sp>
      <p:sp>
        <p:nvSpPr>
          <p:cNvPr id="699" name="Google Shape;699;p73"/>
          <p:cNvSpPr txBox="1"/>
          <p:nvPr/>
        </p:nvSpPr>
        <p:spPr>
          <a:xfrm>
            <a:off x="584800" y="3821175"/>
            <a:ext cx="337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</a:t>
            </a:r>
            <a:r>
              <a:rPr lang="en-US" sz="1200"/>
              <a:t>onne accès au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capacités matérielles du GPU.</a:t>
            </a:r>
            <a:endParaRPr sz="1200"/>
          </a:p>
        </p:txBody>
      </p:sp>
      <p:sp>
        <p:nvSpPr>
          <p:cNvPr id="700" name="Google Shape;700;p73"/>
          <p:cNvSpPr txBox="1"/>
          <p:nvPr/>
        </p:nvSpPr>
        <p:spPr>
          <a:xfrm>
            <a:off x="4944300" y="1646825"/>
            <a:ext cx="410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 Device Context est ce qui </a:t>
            </a:r>
            <a:r>
              <a:rPr lang="en-US" sz="1200" u="sng"/>
              <a:t>permet d’envoyer des commandes à la carte graphique.</a:t>
            </a:r>
            <a:endParaRPr sz="1000" u="sng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1" name="Google Shape;701;p73"/>
          <p:cNvSpPr txBox="1"/>
          <p:nvPr/>
        </p:nvSpPr>
        <p:spPr>
          <a:xfrm>
            <a:off x="5901300" y="2641600"/>
            <a:ext cx="219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Exemples :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dessiner un mesh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binder un buffer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changer de shader…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4"/>
          <p:cNvSpPr txBox="1"/>
          <p:nvPr>
            <p:ph type="title"/>
          </p:nvPr>
        </p:nvSpPr>
        <p:spPr>
          <a:xfrm>
            <a:off x="115450" y="110650"/>
            <a:ext cx="4315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Render Target &amp; Render Target View</a:t>
            </a:r>
            <a:endParaRPr/>
          </a:p>
        </p:txBody>
      </p:sp>
      <p:sp>
        <p:nvSpPr>
          <p:cNvPr id="707" name="Google Shape;707;p74"/>
          <p:cNvSpPr txBox="1"/>
          <p:nvPr/>
        </p:nvSpPr>
        <p:spPr>
          <a:xfrm>
            <a:off x="571500" y="1473850"/>
            <a:ext cx="11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Renter Target </a:t>
            </a:r>
            <a:endParaRPr b="1" sz="1300"/>
          </a:p>
        </p:txBody>
      </p:sp>
      <p:sp>
        <p:nvSpPr>
          <p:cNvPr id="708" name="Google Shape;708;p74"/>
          <p:cNvSpPr txBox="1"/>
          <p:nvPr/>
        </p:nvSpPr>
        <p:spPr>
          <a:xfrm>
            <a:off x="451200" y="1843150"/>
            <a:ext cx="71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=</a:t>
            </a:r>
            <a:r>
              <a:rPr lang="en-US" sz="1200"/>
              <a:t> </a:t>
            </a:r>
            <a:r>
              <a:rPr lang="en-US" sz="1200"/>
              <a:t>la cible de rendu par défaut</a:t>
            </a:r>
            <a:endParaRPr b="1" sz="1300"/>
          </a:p>
        </p:txBody>
      </p:sp>
      <p:sp>
        <p:nvSpPr>
          <p:cNvPr id="709" name="Google Shape;709;p74"/>
          <p:cNvSpPr txBox="1"/>
          <p:nvPr/>
        </p:nvSpPr>
        <p:spPr>
          <a:xfrm>
            <a:off x="2323650" y="3413900"/>
            <a:ext cx="449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</a:t>
            </a:r>
            <a:r>
              <a:rPr b="1" lang="en-US" sz="1200"/>
              <a:t>Render Target View</a:t>
            </a:r>
            <a:r>
              <a:rPr lang="en-US" sz="1200"/>
              <a:t> est la </a:t>
            </a:r>
            <a:r>
              <a:rPr b="1" lang="en-US" sz="1200"/>
              <a:t>vue</a:t>
            </a:r>
            <a:r>
              <a:rPr lang="en-US" sz="1200"/>
              <a:t> qui permet d’utiliser une texture (comme le Back Buffer) en tant que </a:t>
            </a:r>
            <a:r>
              <a:rPr b="1" lang="en-US" sz="1200"/>
              <a:t>surface de dessin</a:t>
            </a:r>
            <a:r>
              <a:rPr lang="en-US" sz="1200"/>
              <a:t>.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0" name="Google Shape;710;p74"/>
          <p:cNvSpPr txBox="1"/>
          <p:nvPr/>
        </p:nvSpPr>
        <p:spPr>
          <a:xfrm>
            <a:off x="2323650" y="4045525"/>
            <a:ext cx="433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</a:rPr>
              <a:t>Sans cette "vue", Direct3D ne peut pas écrire dans la texture.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711" name="Google Shape;711;p74"/>
          <p:cNvSpPr txBox="1"/>
          <p:nvPr/>
        </p:nvSpPr>
        <p:spPr>
          <a:xfrm>
            <a:off x="451200" y="2212450"/>
            <a:ext cx="71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/>
              <a:t>=</a:t>
            </a:r>
            <a:r>
              <a:rPr b="1" lang="en-US" sz="1200"/>
              <a:t> </a:t>
            </a:r>
            <a:r>
              <a:rPr lang="en-US" sz="1200"/>
              <a:t>la texture principale sur laquelle le GPU va dessiner</a:t>
            </a:r>
            <a:endParaRPr b="1" sz="1300"/>
          </a:p>
        </p:txBody>
      </p:sp>
      <p:sp>
        <p:nvSpPr>
          <p:cNvPr id="712" name="Google Shape;712;p74"/>
          <p:cNvSpPr txBox="1"/>
          <p:nvPr/>
        </p:nvSpPr>
        <p:spPr>
          <a:xfrm>
            <a:off x="451200" y="2581750"/>
            <a:ext cx="71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/>
              <a:t>= </a:t>
            </a:r>
            <a:r>
              <a:rPr b="1" lang="en-US" sz="1200"/>
              <a:t>BackBuffer</a:t>
            </a:r>
            <a:endParaRPr b="1" sz="1300"/>
          </a:p>
        </p:txBody>
      </p:sp>
      <p:pic>
        <p:nvPicPr>
          <p:cNvPr id="713" name="Google Shape;71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9650" y="719512"/>
            <a:ext cx="4338300" cy="2616576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74"/>
          <p:cNvSpPr/>
          <p:nvPr/>
        </p:nvSpPr>
        <p:spPr>
          <a:xfrm>
            <a:off x="5564600" y="3165800"/>
            <a:ext cx="2436300" cy="24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5"/>
          <p:cNvSpPr txBox="1"/>
          <p:nvPr>
            <p:ph type="title"/>
          </p:nvPr>
        </p:nvSpPr>
        <p:spPr>
          <a:xfrm>
            <a:off x="115450" y="110650"/>
            <a:ext cx="4315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Depth-Stencil View</a:t>
            </a:r>
            <a:endParaRPr/>
          </a:p>
        </p:txBody>
      </p:sp>
      <p:sp>
        <p:nvSpPr>
          <p:cNvPr id="720" name="Google Shape;720;p75"/>
          <p:cNvSpPr txBox="1"/>
          <p:nvPr/>
        </p:nvSpPr>
        <p:spPr>
          <a:xfrm>
            <a:off x="453250" y="1067825"/>
            <a:ext cx="363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Depth Buffer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stocke la </a:t>
            </a:r>
            <a:r>
              <a:rPr b="1" lang="en-US" sz="1200"/>
              <a:t>profondeur</a:t>
            </a:r>
            <a:r>
              <a:rPr lang="en-US" sz="1200"/>
              <a:t> de chaque pixel </a:t>
            </a:r>
            <a:r>
              <a:rPr lang="en-US" sz="1200"/>
              <a:t>(utilisé pour tester ce qui est devant ou derrière).</a:t>
            </a:r>
            <a:endParaRPr sz="1200"/>
          </a:p>
        </p:txBody>
      </p:sp>
      <p:sp>
        <p:nvSpPr>
          <p:cNvPr id="721" name="Google Shape;721;p75"/>
          <p:cNvSpPr txBox="1"/>
          <p:nvPr/>
        </p:nvSpPr>
        <p:spPr>
          <a:xfrm>
            <a:off x="4895425" y="1067825"/>
            <a:ext cx="34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Stencil Buffer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est optionnel, utilisé pour des effets avancés (masques, ombres…).</a:t>
            </a:r>
            <a:endParaRPr sz="1300"/>
          </a:p>
        </p:txBody>
      </p:sp>
      <p:cxnSp>
        <p:nvCxnSpPr>
          <p:cNvPr id="722" name="Google Shape;722;p75"/>
          <p:cNvCxnSpPr>
            <a:stCxn id="720" idx="2"/>
          </p:cNvCxnSpPr>
          <p:nvPr/>
        </p:nvCxnSpPr>
        <p:spPr>
          <a:xfrm>
            <a:off x="2273050" y="1868225"/>
            <a:ext cx="2298900" cy="12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75"/>
          <p:cNvCxnSpPr>
            <a:stCxn id="721" idx="2"/>
          </p:cNvCxnSpPr>
          <p:nvPr/>
        </p:nvCxnSpPr>
        <p:spPr>
          <a:xfrm flipH="1">
            <a:off x="4572025" y="1868225"/>
            <a:ext cx="2045400" cy="12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75"/>
          <p:cNvSpPr txBox="1"/>
          <p:nvPr/>
        </p:nvSpPr>
        <p:spPr>
          <a:xfrm>
            <a:off x="2302350" y="3932825"/>
            <a:ext cx="453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</a:t>
            </a:r>
            <a:r>
              <a:rPr b="1" lang="en-US" sz="1200"/>
              <a:t>Depth-Stencil View</a:t>
            </a:r>
            <a:r>
              <a:rPr lang="en-US" sz="1200"/>
              <a:t> permet d’</a:t>
            </a:r>
            <a:r>
              <a:rPr b="1" lang="en-US" sz="1200"/>
              <a:t>attacher</a:t>
            </a:r>
            <a:r>
              <a:rPr lang="en-US" sz="1200"/>
              <a:t> ce buffer au pipeline.</a:t>
            </a:r>
            <a:endParaRPr sz="1500"/>
          </a:p>
        </p:txBody>
      </p:sp>
      <p:sp>
        <p:nvSpPr>
          <p:cNvPr id="725" name="Google Shape;725;p75"/>
          <p:cNvSpPr txBox="1"/>
          <p:nvPr/>
        </p:nvSpPr>
        <p:spPr>
          <a:xfrm>
            <a:off x="3489150" y="3256050"/>
            <a:ext cx="216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Depth-Stencil Buffer</a:t>
            </a:r>
            <a:endParaRPr b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6"/>
          <p:cNvSpPr txBox="1"/>
          <p:nvPr>
            <p:ph type="title"/>
          </p:nvPr>
        </p:nvSpPr>
        <p:spPr>
          <a:xfrm>
            <a:off x="115450" y="110650"/>
            <a:ext cx="4315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Output-Merger (OM)</a:t>
            </a:r>
            <a:endParaRPr/>
          </a:p>
        </p:txBody>
      </p:sp>
      <p:sp>
        <p:nvSpPr>
          <p:cNvPr id="731" name="Google Shape;731;p76"/>
          <p:cNvSpPr txBox="1"/>
          <p:nvPr/>
        </p:nvSpPr>
        <p:spPr>
          <a:xfrm>
            <a:off x="601575" y="1052775"/>
            <a:ext cx="447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L’output-Merger est </a:t>
            </a:r>
            <a:r>
              <a:rPr b="1" lang="en-US" sz="1200"/>
              <a:t>la dernière étape du pipeline</a:t>
            </a:r>
            <a:r>
              <a:rPr lang="en-US" sz="1200"/>
              <a:t> graphique.</a:t>
            </a:r>
            <a:endParaRPr sz="1200"/>
          </a:p>
        </p:txBody>
      </p:sp>
      <p:sp>
        <p:nvSpPr>
          <p:cNvPr id="732" name="Google Shape;732;p76"/>
          <p:cNvSpPr txBox="1"/>
          <p:nvPr/>
        </p:nvSpPr>
        <p:spPr>
          <a:xfrm>
            <a:off x="601575" y="1737050"/>
            <a:ext cx="4917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Lors de cette étape, on va</a:t>
            </a:r>
            <a:r>
              <a:rPr lang="en-US" sz="1200"/>
              <a:t>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/>
              <a:t>Combiner </a:t>
            </a:r>
            <a:r>
              <a:rPr lang="en-US" sz="1200"/>
              <a:t>les données des pixels générées par le Pixel Shader + le contenu de la Render Target + le contenu du Depth-Stencil buffer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Appliquer des </a:t>
            </a:r>
            <a:r>
              <a:rPr b="1" lang="en-US" sz="1200"/>
              <a:t>tests </a:t>
            </a:r>
            <a:r>
              <a:rPr lang="en-US" sz="1200"/>
              <a:t>(Depth, Alpha, Stencil)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Ecrire dans la </a:t>
            </a:r>
            <a:r>
              <a:rPr b="1" lang="en-US" sz="1200"/>
              <a:t>Render Target </a:t>
            </a:r>
            <a:r>
              <a:rPr lang="en-US" sz="1200"/>
              <a:t>(Back Buffer)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Cela permet alors d’obtenir le rendu final avec la couleur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des pixels</a:t>
            </a:r>
            <a:endParaRPr/>
          </a:p>
        </p:txBody>
      </p:sp>
      <p:pic>
        <p:nvPicPr>
          <p:cNvPr id="733" name="Google Shape;73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7356" y="0"/>
            <a:ext cx="3936644" cy="463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5750" y="3278175"/>
            <a:ext cx="2958799" cy="16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6"/>
          <p:cNvSpPr/>
          <p:nvPr/>
        </p:nvSpPr>
        <p:spPr>
          <a:xfrm>
            <a:off x="1910025" y="4316325"/>
            <a:ext cx="1045200" cy="446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7"/>
          <p:cNvSpPr txBox="1"/>
          <p:nvPr>
            <p:ph type="title"/>
          </p:nvPr>
        </p:nvSpPr>
        <p:spPr>
          <a:xfrm>
            <a:off x="115450" y="110650"/>
            <a:ext cx="4315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Input Layout</a:t>
            </a:r>
            <a:endParaRPr/>
          </a:p>
        </p:txBody>
      </p:sp>
      <p:sp>
        <p:nvSpPr>
          <p:cNvPr id="741" name="Google Shape;741;p77"/>
          <p:cNvSpPr txBox="1"/>
          <p:nvPr/>
        </p:nvSpPr>
        <p:spPr>
          <a:xfrm>
            <a:off x="601575" y="1052775"/>
            <a:ext cx="4940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L’</a:t>
            </a:r>
            <a:r>
              <a:rPr b="1" lang="en-US" sz="1200"/>
              <a:t>input Layout</a:t>
            </a:r>
            <a:r>
              <a:rPr lang="en-US" sz="1200"/>
              <a:t> indique à Direct3D </a:t>
            </a:r>
            <a:r>
              <a:rPr b="1" lang="en-US" sz="1200"/>
              <a:t>comment interpréter les données des vertices</a:t>
            </a:r>
            <a:r>
              <a:rPr lang="en-US" sz="1200"/>
              <a:t>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décrit </a:t>
            </a:r>
            <a:r>
              <a:rPr b="1" lang="en-US" sz="1200"/>
              <a:t>comment les données d’un vertex sont organisées</a:t>
            </a:r>
            <a:r>
              <a:rPr lang="en-US" sz="1200"/>
              <a:t> en mémoire, afin que le </a:t>
            </a:r>
            <a:r>
              <a:rPr b="1" lang="en-US" sz="1200"/>
              <a:t>Vertex Shader</a:t>
            </a:r>
            <a:r>
              <a:rPr lang="en-US" sz="1200"/>
              <a:t> puisse les lire correctement.</a:t>
            </a:r>
            <a:endParaRPr sz="1200"/>
          </a:p>
        </p:txBody>
      </p:sp>
      <p:sp>
        <p:nvSpPr>
          <p:cNvPr id="742" name="Google Shape;742;p77"/>
          <p:cNvSpPr txBox="1"/>
          <p:nvPr/>
        </p:nvSpPr>
        <p:spPr>
          <a:xfrm>
            <a:off x="601575" y="2592738"/>
            <a:ext cx="486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Exemple </a:t>
            </a:r>
            <a:r>
              <a:rPr lang="en-US" sz="1200"/>
              <a:t>: </a:t>
            </a:r>
            <a:r>
              <a:rPr i="1" lang="en-US" sz="1200"/>
              <a:t>un vertex peut contenir une position, une couleur, une normale, un UV…</a:t>
            </a:r>
            <a:endParaRPr i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L’input layout fait le lien entre les données CPU et les variables dans le Vertex Shader.</a:t>
            </a:r>
            <a:endParaRPr sz="1200"/>
          </a:p>
        </p:txBody>
      </p:sp>
      <p:sp>
        <p:nvSpPr>
          <p:cNvPr id="743" name="Google Shape;743;p77"/>
          <p:cNvSpPr/>
          <p:nvPr/>
        </p:nvSpPr>
        <p:spPr>
          <a:xfrm>
            <a:off x="7098750" y="684300"/>
            <a:ext cx="1300800" cy="130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CPU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p77"/>
          <p:cNvSpPr txBox="1"/>
          <p:nvPr/>
        </p:nvSpPr>
        <p:spPr>
          <a:xfrm>
            <a:off x="7181350" y="3398925"/>
            <a:ext cx="11355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p77"/>
          <p:cNvSpPr/>
          <p:nvPr/>
        </p:nvSpPr>
        <p:spPr>
          <a:xfrm>
            <a:off x="7098750" y="3350025"/>
            <a:ext cx="1300800" cy="130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Vertex Shader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46" name="Google Shape;746;p77"/>
          <p:cNvCxnSpPr>
            <a:stCxn id="743" idx="2"/>
            <a:endCxn id="745" idx="0"/>
          </p:cNvCxnSpPr>
          <p:nvPr/>
        </p:nvCxnSpPr>
        <p:spPr>
          <a:xfrm>
            <a:off x="7749150" y="1992900"/>
            <a:ext cx="0" cy="135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7" name="Google Shape;747;p77"/>
          <p:cNvSpPr txBox="1"/>
          <p:nvPr/>
        </p:nvSpPr>
        <p:spPr>
          <a:xfrm>
            <a:off x="5745150" y="1445313"/>
            <a:ext cx="13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8" name="Google Shape;74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7400" y="1361927"/>
            <a:ext cx="923400" cy="9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77"/>
          <p:cNvSpPr txBox="1"/>
          <p:nvPr/>
        </p:nvSpPr>
        <p:spPr>
          <a:xfrm>
            <a:off x="601575" y="3842600"/>
            <a:ext cx="486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</a:rPr>
              <a:t>Le GPU doit savoir comment la donnée est enregistrée en mémoire.</a:t>
            </a:r>
            <a:r>
              <a:rPr lang="en-US" sz="1200"/>
              <a:t> </a:t>
            </a:r>
            <a:endParaRPr sz="1200"/>
          </a:p>
        </p:txBody>
      </p:sp>
      <p:sp>
        <p:nvSpPr>
          <p:cNvPr id="750" name="Google Shape;750;p77"/>
          <p:cNvSpPr txBox="1"/>
          <p:nvPr/>
        </p:nvSpPr>
        <p:spPr>
          <a:xfrm>
            <a:off x="601575" y="4055625"/>
            <a:ext cx="465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L’input Layout va donc agir </a:t>
            </a:r>
            <a:r>
              <a:rPr b="1" lang="en-US" sz="1200"/>
              <a:t>comme un décodeur</a:t>
            </a:r>
            <a:r>
              <a:rPr lang="en-US" sz="1200"/>
              <a:t> pour Direct3D, qui va permettre de transmettre les infos au Vertex Shader.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1" name="Google Shape;751;p77"/>
          <p:cNvSpPr txBox="1"/>
          <p:nvPr/>
        </p:nvSpPr>
        <p:spPr>
          <a:xfrm>
            <a:off x="7098700" y="1638975"/>
            <a:ext cx="13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Vertex buffer, …</a:t>
            </a:r>
            <a:endParaRPr i="1" sz="1200"/>
          </a:p>
        </p:txBody>
      </p:sp>
      <p:sp>
        <p:nvSpPr>
          <p:cNvPr id="752" name="Google Shape;752;p77"/>
          <p:cNvSpPr txBox="1"/>
          <p:nvPr/>
        </p:nvSpPr>
        <p:spPr>
          <a:xfrm>
            <a:off x="6963150" y="2426550"/>
            <a:ext cx="7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Input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Layout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8"/>
          <p:cNvSpPr txBox="1"/>
          <p:nvPr>
            <p:ph type="title"/>
          </p:nvPr>
        </p:nvSpPr>
        <p:spPr>
          <a:xfrm>
            <a:off x="84425" y="146425"/>
            <a:ext cx="6790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Étapes d’initialisation de Direct 3D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78"/>
          <p:cNvSpPr/>
          <p:nvPr/>
        </p:nvSpPr>
        <p:spPr>
          <a:xfrm>
            <a:off x="1397797" y="1165100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78"/>
          <p:cNvSpPr txBox="1"/>
          <p:nvPr/>
        </p:nvSpPr>
        <p:spPr>
          <a:xfrm>
            <a:off x="1291875" y="1165100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0" name="Google Shape;76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78"/>
          <p:cNvSpPr txBox="1"/>
          <p:nvPr/>
        </p:nvSpPr>
        <p:spPr>
          <a:xfrm>
            <a:off x="1925136" y="1208236"/>
            <a:ext cx="18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Description de la swapchain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762" name="Google Shape;762;p78"/>
          <p:cNvSpPr/>
          <p:nvPr/>
        </p:nvSpPr>
        <p:spPr>
          <a:xfrm>
            <a:off x="1291877" y="2428760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78"/>
          <p:cNvSpPr txBox="1"/>
          <p:nvPr/>
        </p:nvSpPr>
        <p:spPr>
          <a:xfrm>
            <a:off x="1292049" y="2428760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78"/>
          <p:cNvSpPr txBox="1"/>
          <p:nvPr/>
        </p:nvSpPr>
        <p:spPr>
          <a:xfrm>
            <a:off x="1925135" y="2466527"/>
            <a:ext cx="160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Récupération du Back Buffer (color target)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78"/>
          <p:cNvSpPr txBox="1"/>
          <p:nvPr/>
        </p:nvSpPr>
        <p:spPr>
          <a:xfrm>
            <a:off x="1291875" y="1797024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78"/>
          <p:cNvSpPr txBox="1"/>
          <p:nvPr/>
        </p:nvSpPr>
        <p:spPr>
          <a:xfrm>
            <a:off x="1921050" y="1818488"/>
            <a:ext cx="19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Création du Device, du Context et de la swapchain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767" name="Google Shape;767;p78"/>
          <p:cNvSpPr txBox="1"/>
          <p:nvPr/>
        </p:nvSpPr>
        <p:spPr>
          <a:xfrm>
            <a:off x="1291875" y="3110876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78"/>
          <p:cNvSpPr txBox="1"/>
          <p:nvPr/>
        </p:nvSpPr>
        <p:spPr>
          <a:xfrm>
            <a:off x="1925121" y="3114550"/>
            <a:ext cx="160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Création de la Render Target View (RTV)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78"/>
          <p:cNvSpPr/>
          <p:nvPr/>
        </p:nvSpPr>
        <p:spPr>
          <a:xfrm>
            <a:off x="4989335" y="1122798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78"/>
          <p:cNvSpPr txBox="1"/>
          <p:nvPr/>
        </p:nvSpPr>
        <p:spPr>
          <a:xfrm>
            <a:off x="4989161" y="1122798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78"/>
          <p:cNvSpPr txBox="1"/>
          <p:nvPr/>
        </p:nvSpPr>
        <p:spPr>
          <a:xfrm>
            <a:off x="5614076" y="1137688"/>
            <a:ext cx="18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Création de la Depth-Stencil View (DSV)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78"/>
          <p:cNvSpPr txBox="1"/>
          <p:nvPr/>
        </p:nvSpPr>
        <p:spPr>
          <a:xfrm>
            <a:off x="4989158" y="1747639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78"/>
          <p:cNvSpPr txBox="1"/>
          <p:nvPr/>
        </p:nvSpPr>
        <p:spPr>
          <a:xfrm>
            <a:off x="5622450" y="1736363"/>
            <a:ext cx="172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Liaison de la RTV &amp; DSV à l’Output-Merger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78"/>
          <p:cNvSpPr/>
          <p:nvPr/>
        </p:nvSpPr>
        <p:spPr>
          <a:xfrm>
            <a:off x="4989685" y="2372480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78"/>
          <p:cNvSpPr txBox="1"/>
          <p:nvPr/>
        </p:nvSpPr>
        <p:spPr>
          <a:xfrm>
            <a:off x="4989511" y="2372480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8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78"/>
          <p:cNvSpPr txBox="1"/>
          <p:nvPr/>
        </p:nvSpPr>
        <p:spPr>
          <a:xfrm>
            <a:off x="5614425" y="2392138"/>
            <a:ext cx="115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Configuration du Viewport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777" name="Google Shape;777;p78"/>
          <p:cNvSpPr txBox="1"/>
          <p:nvPr/>
        </p:nvSpPr>
        <p:spPr>
          <a:xfrm>
            <a:off x="1292050" y="3793001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78"/>
          <p:cNvSpPr txBox="1"/>
          <p:nvPr/>
        </p:nvSpPr>
        <p:spPr>
          <a:xfrm>
            <a:off x="1925300" y="3796675"/>
            <a:ext cx="18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Création de la texture 2D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78"/>
          <p:cNvSpPr/>
          <p:nvPr/>
        </p:nvSpPr>
        <p:spPr>
          <a:xfrm>
            <a:off x="4989335" y="3052592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78"/>
          <p:cNvSpPr txBox="1"/>
          <p:nvPr/>
        </p:nvSpPr>
        <p:spPr>
          <a:xfrm>
            <a:off x="4989161" y="3052592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9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78"/>
          <p:cNvSpPr txBox="1"/>
          <p:nvPr/>
        </p:nvSpPr>
        <p:spPr>
          <a:xfrm>
            <a:off x="5614075" y="3072263"/>
            <a:ext cx="26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Initialisation des shaders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(Vertex Shader  |  Pixel Shader)</a:t>
            </a:r>
            <a:endParaRPr sz="1200"/>
          </a:p>
        </p:txBody>
      </p:sp>
      <p:sp>
        <p:nvSpPr>
          <p:cNvPr id="782" name="Google Shape;782;p78"/>
          <p:cNvSpPr/>
          <p:nvPr/>
        </p:nvSpPr>
        <p:spPr>
          <a:xfrm>
            <a:off x="4989335" y="3734717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78"/>
          <p:cNvSpPr txBox="1"/>
          <p:nvPr/>
        </p:nvSpPr>
        <p:spPr>
          <a:xfrm>
            <a:off x="4989161" y="3734717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10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8"/>
          <p:cNvSpPr txBox="1"/>
          <p:nvPr/>
        </p:nvSpPr>
        <p:spPr>
          <a:xfrm>
            <a:off x="5614075" y="3754375"/>
            <a:ext cx="21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Création de l’Input Layout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8"/>
          <p:cNvSpPr txBox="1"/>
          <p:nvPr/>
        </p:nvSpPr>
        <p:spPr>
          <a:xfrm>
            <a:off x="1875950" y="1285975"/>
            <a:ext cx="1804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DXGI_SWAP_CHAIN_DESC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6" name="Google Shape;786;p78"/>
          <p:cNvSpPr txBox="1"/>
          <p:nvPr/>
        </p:nvSpPr>
        <p:spPr>
          <a:xfrm>
            <a:off x="1890850" y="1876225"/>
            <a:ext cx="297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D3D11CreateDeviceAndSwapChain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7" name="Google Shape;787;p78"/>
          <p:cNvSpPr txBox="1"/>
          <p:nvPr/>
        </p:nvSpPr>
        <p:spPr>
          <a:xfrm>
            <a:off x="1875950" y="25242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swapChain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-&gt;GetBuffer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8" name="Google Shape;788;p78"/>
          <p:cNvSpPr txBox="1"/>
          <p:nvPr/>
        </p:nvSpPr>
        <p:spPr>
          <a:xfrm>
            <a:off x="1841963" y="3189338"/>
            <a:ext cx="3067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-&gt;CreateRenderTargetView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9" name="Google Shape;789;p78"/>
          <p:cNvSpPr txBox="1"/>
          <p:nvPr/>
        </p:nvSpPr>
        <p:spPr>
          <a:xfrm>
            <a:off x="1875950" y="38733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-&gt;CreateTexture2D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0" name="Google Shape;790;p78"/>
          <p:cNvSpPr txBox="1"/>
          <p:nvPr/>
        </p:nvSpPr>
        <p:spPr>
          <a:xfrm>
            <a:off x="5572125" y="120440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-&gt;CreateDepthStencilView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1" name="Google Shape;791;p78"/>
          <p:cNvSpPr txBox="1"/>
          <p:nvPr/>
        </p:nvSpPr>
        <p:spPr>
          <a:xfrm>
            <a:off x="5588150" y="1822675"/>
            <a:ext cx="3232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-&gt;OMSetRenderTargets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2" name="Google Shape;792;p78"/>
          <p:cNvSpPr txBox="1"/>
          <p:nvPr/>
        </p:nvSpPr>
        <p:spPr>
          <a:xfrm>
            <a:off x="5573750" y="24474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-&gt;RSSetViewports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3" name="Google Shape;793;p78"/>
          <p:cNvSpPr txBox="1"/>
          <p:nvPr/>
        </p:nvSpPr>
        <p:spPr>
          <a:xfrm>
            <a:off x="5573050" y="3812575"/>
            <a:ext cx="30000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-&gt;CreateInputLayout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4" name="Google Shape;794;p78"/>
          <p:cNvSpPr txBox="1"/>
          <p:nvPr/>
        </p:nvSpPr>
        <p:spPr>
          <a:xfrm>
            <a:off x="4989186" y="3053592"/>
            <a:ext cx="470700" cy="509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9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8204050" y="2885300"/>
            <a:ext cx="47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1" sz="50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9"/>
          <p:cNvSpPr txBox="1"/>
          <p:nvPr>
            <p:ph type="ctrTitle"/>
          </p:nvPr>
        </p:nvSpPr>
        <p:spPr>
          <a:xfrm>
            <a:off x="367975" y="1335450"/>
            <a:ext cx="3945000" cy="26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Vertex Shader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&amp;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Pixel Shader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0"/>
          <p:cNvSpPr txBox="1"/>
          <p:nvPr>
            <p:ph type="title"/>
          </p:nvPr>
        </p:nvSpPr>
        <p:spPr>
          <a:xfrm>
            <a:off x="115450" y="110650"/>
            <a:ext cx="6058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HLSL &amp; Shaders dans Direct3D</a:t>
            </a:r>
            <a:endParaRPr/>
          </a:p>
        </p:txBody>
      </p:sp>
      <p:sp>
        <p:nvSpPr>
          <p:cNvPr id="806" name="Google Shape;806;p80"/>
          <p:cNvSpPr txBox="1"/>
          <p:nvPr/>
        </p:nvSpPr>
        <p:spPr>
          <a:xfrm>
            <a:off x="360950" y="887300"/>
            <a:ext cx="463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 Vertex Shader et le Pixel Shader sont des petits programmes GPU écris en </a:t>
            </a:r>
            <a:r>
              <a:rPr b="1" lang="en-US" sz="1200"/>
              <a:t>HLSL </a:t>
            </a:r>
            <a:r>
              <a:rPr lang="en-US" sz="1200"/>
              <a:t>(High-Level Shader Language)</a:t>
            </a:r>
            <a:endParaRPr sz="1000"/>
          </a:p>
        </p:txBody>
      </p:sp>
      <p:sp>
        <p:nvSpPr>
          <p:cNvPr id="807" name="Google Shape;807;p80"/>
          <p:cNvSpPr txBox="1"/>
          <p:nvPr/>
        </p:nvSpPr>
        <p:spPr>
          <a:xfrm>
            <a:off x="360950" y="1767125"/>
            <a:ext cx="463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Ils sont créer en format </a:t>
            </a:r>
            <a:r>
              <a:rPr b="1" lang="en-US" sz="1200"/>
              <a:t>.hlsl</a:t>
            </a:r>
            <a:r>
              <a:rPr lang="en-US" sz="1200"/>
              <a:t> et sont compilés en </a:t>
            </a:r>
            <a:r>
              <a:rPr b="1" lang="en-US" sz="1200"/>
              <a:t>.cso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</a:rPr>
              <a:t>Pour les compiler, il faut utiliser un compilateur externe adapter (fxc, Visual Studio, …)</a:t>
            </a:r>
            <a:endParaRPr b="1" sz="1200">
              <a:solidFill>
                <a:srgbClr val="FF0000"/>
              </a:solidFill>
            </a:endParaRPr>
          </a:p>
        </p:txBody>
      </p:sp>
      <p:pic>
        <p:nvPicPr>
          <p:cNvPr id="808" name="Google Shape;80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150" y="1735138"/>
            <a:ext cx="4088725" cy="80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80"/>
          <p:cNvSpPr txBox="1"/>
          <p:nvPr/>
        </p:nvSpPr>
        <p:spPr>
          <a:xfrm>
            <a:off x="360950" y="2636025"/>
            <a:ext cx="87831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Comment utiliser un de ces shader?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ecriture du shader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compilation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chargement du fichier .hlsl 			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LoadShaderFromFile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r>
              <a:rPr lang="en-US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création du shader 			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-&gt;CreateVertexShader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r>
              <a:rPr lang="en-US" sz="1200"/>
              <a:t> | 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-&gt;CreatePixelShader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r>
              <a:rPr lang="en-US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bind des shaders à la pipeline 	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-&gt;VSSetShader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r>
              <a:rPr lang="en-US" sz="1200"/>
              <a:t> | 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-&gt;PSSetShader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exemple Vertex Shader: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bind le buffer de matrices au Vertex Shader 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-&gt;VSSetConstantBuffers(...)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 programme va procurer les données, et les shaders vont opérer dessus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1"/>
          <p:cNvSpPr txBox="1"/>
          <p:nvPr>
            <p:ph type="title"/>
          </p:nvPr>
        </p:nvSpPr>
        <p:spPr>
          <a:xfrm>
            <a:off x="115450" y="110650"/>
            <a:ext cx="6058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Pixel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Shader</a:t>
            </a:r>
            <a:endParaRPr/>
          </a:p>
        </p:txBody>
      </p:sp>
      <p:sp>
        <p:nvSpPr>
          <p:cNvPr id="815" name="Google Shape;815;p81"/>
          <p:cNvSpPr txBox="1"/>
          <p:nvPr/>
        </p:nvSpPr>
        <p:spPr>
          <a:xfrm>
            <a:off x="360850" y="695000"/>
            <a:ext cx="77862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Ce shader va être exécuter </a:t>
            </a:r>
            <a:r>
              <a:rPr b="1" lang="en-US" sz="1200"/>
              <a:t>une fois par pixel</a:t>
            </a:r>
            <a:r>
              <a:rPr lang="en-US" sz="1200"/>
              <a:t>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est responsable de la </a:t>
            </a:r>
            <a:r>
              <a:rPr b="1" lang="en-US" sz="1200"/>
              <a:t>couleur finale</a:t>
            </a:r>
            <a:r>
              <a:rPr lang="en-US" sz="1200"/>
              <a:t> qui va aller dans le Render Target.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Exemple de tâches dont s’occupe le Pixel Shader</a:t>
            </a:r>
            <a:r>
              <a:rPr lang="en-US" sz="1200"/>
              <a:t>: </a:t>
            </a:r>
            <a:r>
              <a:rPr i="1" lang="en-US" sz="1200"/>
              <a:t>Color blending, lighting, texture sampling, shading, ...</a:t>
            </a:r>
            <a:endParaRPr i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INPUT</a:t>
            </a:r>
            <a:r>
              <a:rPr lang="en-US" sz="1200"/>
              <a:t>: Données i</a:t>
            </a:r>
            <a:r>
              <a:rPr lang="en-US" sz="1200"/>
              <a:t>nterpolées du Vertex Shader (couleur, UVs, normals, positions…)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OUTPUT</a:t>
            </a:r>
            <a:r>
              <a:rPr lang="en-US" sz="1200"/>
              <a:t>: Un float4 -&gt; couleur finale du pixel traité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816" name="Google Shape;81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950" y="2600850"/>
            <a:ext cx="5630749" cy="22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2"/>
          <p:cNvSpPr txBox="1"/>
          <p:nvPr>
            <p:ph type="title"/>
          </p:nvPr>
        </p:nvSpPr>
        <p:spPr>
          <a:xfrm>
            <a:off x="115450" y="110650"/>
            <a:ext cx="6058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Vertex Shader</a:t>
            </a:r>
            <a:endParaRPr/>
          </a:p>
        </p:txBody>
      </p:sp>
      <p:sp>
        <p:nvSpPr>
          <p:cNvPr id="822" name="Google Shape;822;p82"/>
          <p:cNvSpPr txBox="1"/>
          <p:nvPr/>
        </p:nvSpPr>
        <p:spPr>
          <a:xfrm>
            <a:off x="360950" y="887300"/>
            <a:ext cx="4045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Ce shader va être exécuter </a:t>
            </a:r>
            <a:r>
              <a:rPr b="1" lang="en-US" sz="1200"/>
              <a:t>une fois par vertex</a:t>
            </a:r>
            <a:r>
              <a:rPr lang="en-US" sz="1200"/>
              <a:t>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va transformer les données du vertex: position, normals, couleurs, etc.</a:t>
            </a:r>
            <a:br>
              <a:rPr lang="en-US" sz="1200"/>
            </a:b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va output une position en </a:t>
            </a:r>
            <a:r>
              <a:rPr b="1" lang="en-US" sz="1200"/>
              <a:t>clip space</a:t>
            </a:r>
            <a:r>
              <a:rPr lang="en-US" sz="1200"/>
              <a:t> (coordonnées homogènes 2D utilisées par Direct3D entre -1 et 1).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INPUT</a:t>
            </a:r>
            <a:r>
              <a:rPr lang="en-US" sz="1200"/>
              <a:t>: Structuré à partir de L’Input Layout (couleur, position, …)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OUTPUT</a:t>
            </a:r>
            <a:r>
              <a:rPr lang="en-US" sz="1200"/>
              <a:t>: envoi au rasterizer (SV_POSITION et COLOR)</a:t>
            </a:r>
            <a:endParaRPr sz="1200"/>
          </a:p>
        </p:txBody>
      </p:sp>
      <p:pic>
        <p:nvPicPr>
          <p:cNvPr id="823" name="Google Shape;82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400" y="-3125"/>
            <a:ext cx="4197600" cy="4663152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82"/>
          <p:cNvSpPr txBox="1"/>
          <p:nvPr/>
        </p:nvSpPr>
        <p:spPr>
          <a:xfrm>
            <a:off x="360950" y="3551825"/>
            <a:ext cx="404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Pour transformer les données des Vertex, ce shader va utiliser </a:t>
            </a:r>
            <a:r>
              <a:rPr b="1" lang="en-US" sz="1200"/>
              <a:t>des matrices </a:t>
            </a:r>
            <a:r>
              <a:rPr lang="en-US" sz="1200"/>
              <a:t>qui doivent lui être fourni: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World Matrix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View Matrix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Projection Matrix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83"/>
          <p:cNvSpPr txBox="1"/>
          <p:nvPr>
            <p:ph type="ctrTitle"/>
          </p:nvPr>
        </p:nvSpPr>
        <p:spPr>
          <a:xfrm>
            <a:off x="367975" y="1335450"/>
            <a:ext cx="3945000" cy="26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Matrices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World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View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Projection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4"/>
          <p:cNvSpPr txBox="1"/>
          <p:nvPr>
            <p:ph type="title"/>
          </p:nvPr>
        </p:nvSpPr>
        <p:spPr>
          <a:xfrm>
            <a:off x="115450" y="110650"/>
            <a:ext cx="4474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World/View/Projection</a:t>
            </a:r>
            <a:endParaRPr/>
          </a:p>
        </p:txBody>
      </p:sp>
      <p:pic>
        <p:nvPicPr>
          <p:cNvPr id="835" name="Google Shape;83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6175" y="1854498"/>
            <a:ext cx="6350601" cy="322132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84"/>
          <p:cNvSpPr txBox="1"/>
          <p:nvPr/>
        </p:nvSpPr>
        <p:spPr>
          <a:xfrm>
            <a:off x="646700" y="902375"/>
            <a:ext cx="645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Pour passer d’objets dans un plan 3D à une image en 2D, </a:t>
            </a:r>
            <a:r>
              <a:rPr lang="en-US" sz="1200"/>
              <a:t>on</a:t>
            </a:r>
            <a:r>
              <a:rPr lang="en-US" sz="1200"/>
              <a:t> doit appliquer 3 matrices:</a:t>
            </a:r>
            <a:endParaRPr sz="1200"/>
          </a:p>
        </p:txBody>
      </p:sp>
      <p:sp>
        <p:nvSpPr>
          <p:cNvPr id="837" name="Google Shape;837;p84"/>
          <p:cNvSpPr txBox="1"/>
          <p:nvPr/>
        </p:nvSpPr>
        <p:spPr>
          <a:xfrm>
            <a:off x="836700" y="1271675"/>
            <a:ext cx="186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/>
              <a:t>World Matrix</a:t>
            </a:r>
            <a:endParaRPr b="1"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(ou Model Matrix)</a:t>
            </a:r>
            <a:endParaRPr sz="1200"/>
          </a:p>
        </p:txBody>
      </p:sp>
      <p:sp>
        <p:nvSpPr>
          <p:cNvPr id="838" name="Google Shape;838;p84"/>
          <p:cNvSpPr txBox="1"/>
          <p:nvPr/>
        </p:nvSpPr>
        <p:spPr>
          <a:xfrm>
            <a:off x="3102175" y="1271675"/>
            <a:ext cx="16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/>
              <a:t>View </a:t>
            </a:r>
            <a:r>
              <a:rPr b="1" lang="en-US" sz="1200"/>
              <a:t>Matrix</a:t>
            </a:r>
            <a:endParaRPr b="1" sz="1200"/>
          </a:p>
        </p:txBody>
      </p:sp>
      <p:sp>
        <p:nvSpPr>
          <p:cNvPr id="839" name="Google Shape;839;p84"/>
          <p:cNvSpPr txBox="1"/>
          <p:nvPr/>
        </p:nvSpPr>
        <p:spPr>
          <a:xfrm>
            <a:off x="5367650" y="1271675"/>
            <a:ext cx="19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/>
              <a:t>Projection </a:t>
            </a:r>
            <a:r>
              <a:rPr b="1" lang="en-US" sz="1200"/>
              <a:t>Matrix</a:t>
            </a:r>
            <a:endParaRPr b="1" sz="1200"/>
          </a:p>
        </p:txBody>
      </p:sp>
      <p:sp>
        <p:nvSpPr>
          <p:cNvPr id="840" name="Google Shape;840;p84"/>
          <p:cNvSpPr txBox="1"/>
          <p:nvPr/>
        </p:nvSpPr>
        <p:spPr>
          <a:xfrm>
            <a:off x="115450" y="3280513"/>
            <a:ext cx="19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</a:rPr>
              <a:t>Taille des matrices: 4x4</a:t>
            </a:r>
            <a:endParaRPr b="1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85"/>
          <p:cNvSpPr txBox="1"/>
          <p:nvPr>
            <p:ph type="title"/>
          </p:nvPr>
        </p:nvSpPr>
        <p:spPr>
          <a:xfrm>
            <a:off x="115450" y="110650"/>
            <a:ext cx="4474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World/View/Projection</a:t>
            </a:r>
            <a:endParaRPr/>
          </a:p>
        </p:txBody>
      </p:sp>
      <p:sp>
        <p:nvSpPr>
          <p:cNvPr id="846" name="Google Shape;846;p85"/>
          <p:cNvSpPr txBox="1"/>
          <p:nvPr/>
        </p:nvSpPr>
        <p:spPr>
          <a:xfrm>
            <a:off x="646700" y="750150"/>
            <a:ext cx="6451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Dans Direct3D, les matrices sont de base Column-majored, mais il est possible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d’utiliser des matrices row-majored en le précisant dans le Vertex Shader.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 choix va impacter: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L’ordre de stockage en mémoire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La multiplication des vecteurs: </a:t>
            </a:r>
            <a:endParaRPr sz="12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Row-major</a:t>
            </a:r>
            <a:r>
              <a:rPr lang="en-US" sz="1200"/>
              <a:t>: </a:t>
            </a:r>
            <a:r>
              <a:rPr lang="en-US" sz="1200">
                <a:solidFill>
                  <a:srgbClr val="0000FF"/>
                </a:solidFill>
              </a:rPr>
              <a:t>v * M</a:t>
            </a:r>
            <a:r>
              <a:rPr lang="en-US" sz="1200"/>
              <a:t> (vecteur ligne × matrice)</a:t>
            </a:r>
            <a:endParaRPr sz="12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Column-major</a:t>
            </a:r>
            <a:r>
              <a:rPr lang="en-US" sz="1200"/>
              <a:t>: </a:t>
            </a:r>
            <a:r>
              <a:rPr lang="en-US" sz="1200">
                <a:solidFill>
                  <a:srgbClr val="0000FF"/>
                </a:solidFill>
              </a:rPr>
              <a:t>M * v</a:t>
            </a:r>
            <a:r>
              <a:rPr lang="en-US" sz="1200"/>
              <a:t> (matrice × vecteur colonne)</a:t>
            </a:r>
            <a:endParaRPr sz="13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La vision de la matrice (row-majored est considéré comme plus simple à lire)</a:t>
            </a:r>
            <a:endParaRPr sz="1200"/>
          </a:p>
        </p:txBody>
      </p:sp>
      <p:pic>
        <p:nvPicPr>
          <p:cNvPr id="847" name="Google Shape;84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8725" y="676325"/>
            <a:ext cx="2675268" cy="356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85"/>
          <p:cNvSpPr txBox="1"/>
          <p:nvPr/>
        </p:nvSpPr>
        <p:spPr>
          <a:xfrm>
            <a:off x="646700" y="2831625"/>
            <a:ext cx="626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</a:rPr>
              <a:t>Attention!</a:t>
            </a:r>
            <a:r>
              <a:rPr lang="en-US" sz="1200"/>
              <a:t> Dans Direct3D les shaders columned-majored utilisent de base: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pos = mul(projection, mul(view, mul(world, pos)));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Hors, en row-majored l’ordre est inversé: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pos = mul(world, pos);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pos = mul(view, pos);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pos = mul(projection, pos);</a:t>
            </a:r>
            <a:endParaRPr sz="1200"/>
          </a:p>
        </p:txBody>
      </p:sp>
      <p:sp>
        <p:nvSpPr>
          <p:cNvPr id="849" name="Google Shape;849;p85"/>
          <p:cNvSpPr txBox="1"/>
          <p:nvPr/>
        </p:nvSpPr>
        <p:spPr>
          <a:xfrm>
            <a:off x="4460625" y="4309425"/>
            <a:ext cx="39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sng">
                <a:solidFill>
                  <a:schemeClr val="hlink"/>
                </a:solidFill>
                <a:hlinkClick r:id="rId4"/>
              </a:rPr>
              <a:t>Voici un lien pratique pour construire ces matrices</a:t>
            </a:r>
            <a:endParaRPr b="1" sz="1200"/>
          </a:p>
        </p:txBody>
      </p:sp>
      <p:sp>
        <p:nvSpPr>
          <p:cNvPr id="850" name="Google Shape;850;p85"/>
          <p:cNvSpPr txBox="1"/>
          <p:nvPr/>
        </p:nvSpPr>
        <p:spPr>
          <a:xfrm>
            <a:off x="4460625" y="4591750"/>
            <a:ext cx="47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sng">
                <a:solidFill>
                  <a:schemeClr val="hlink"/>
                </a:solidFill>
                <a:hlinkClick action="ppaction://hlinksldjump" r:id="rId5"/>
              </a:rPr>
              <a:t>N’oubliez pas la mention ici pour les utiliser</a:t>
            </a:r>
            <a:endParaRPr b="1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86"/>
          <p:cNvSpPr txBox="1"/>
          <p:nvPr>
            <p:ph type="ctrTitle"/>
          </p:nvPr>
        </p:nvSpPr>
        <p:spPr>
          <a:xfrm>
            <a:off x="367975" y="1335450"/>
            <a:ext cx="39450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Direct3D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Boucle d’affichage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87"/>
          <p:cNvSpPr txBox="1"/>
          <p:nvPr>
            <p:ph type="title"/>
          </p:nvPr>
        </p:nvSpPr>
        <p:spPr>
          <a:xfrm>
            <a:off x="84425" y="146425"/>
            <a:ext cx="6496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Étapes d’utilisation de Direct 3D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7"/>
          <p:cNvSpPr/>
          <p:nvPr/>
        </p:nvSpPr>
        <p:spPr>
          <a:xfrm>
            <a:off x="608075" y="1121600"/>
            <a:ext cx="909900" cy="9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87"/>
          <p:cNvSpPr/>
          <p:nvPr/>
        </p:nvSpPr>
        <p:spPr>
          <a:xfrm>
            <a:off x="0" y="2949450"/>
            <a:ext cx="8971200" cy="1272300"/>
          </a:xfrm>
          <a:prstGeom prst="rect">
            <a:avLst/>
          </a:prstGeom>
          <a:noFill/>
          <a:ln cap="flat" cmpd="sng" w="38100">
            <a:solidFill>
              <a:srgbClr val="00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3" name="Google Shape;863;p87"/>
          <p:cNvSpPr txBox="1"/>
          <p:nvPr/>
        </p:nvSpPr>
        <p:spPr>
          <a:xfrm>
            <a:off x="455922" y="11216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4" name="Google Shape;86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7"/>
          <p:cNvSpPr txBox="1"/>
          <p:nvPr/>
        </p:nvSpPr>
        <p:spPr>
          <a:xfrm>
            <a:off x="3934175" y="4413475"/>
            <a:ext cx="264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VERTEX SHADER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PIXEL SHADER</a:t>
            </a:r>
            <a:endParaRPr sz="1300"/>
          </a:p>
        </p:txBody>
      </p:sp>
      <p:sp>
        <p:nvSpPr>
          <p:cNvPr id="866" name="Google Shape;866;p87"/>
          <p:cNvSpPr/>
          <p:nvPr/>
        </p:nvSpPr>
        <p:spPr>
          <a:xfrm>
            <a:off x="3024275" y="3143850"/>
            <a:ext cx="909900" cy="9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87"/>
          <p:cNvSpPr txBox="1"/>
          <p:nvPr/>
        </p:nvSpPr>
        <p:spPr>
          <a:xfrm>
            <a:off x="3024522" y="314385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87"/>
          <p:cNvSpPr txBox="1"/>
          <p:nvPr/>
        </p:nvSpPr>
        <p:spPr>
          <a:xfrm>
            <a:off x="3934175" y="3339288"/>
            <a:ext cx="230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DRAW - Dessin du Mesh sur la 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87"/>
          <p:cNvSpPr txBox="1"/>
          <p:nvPr/>
        </p:nvSpPr>
        <p:spPr>
          <a:xfrm>
            <a:off x="205722" y="31608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87"/>
          <p:cNvSpPr txBox="1"/>
          <p:nvPr/>
        </p:nvSpPr>
        <p:spPr>
          <a:xfrm>
            <a:off x="1115375" y="3352500"/>
            <a:ext cx="190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CLEAR - Effacement de la 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87"/>
          <p:cNvSpPr txBox="1"/>
          <p:nvPr/>
        </p:nvSpPr>
        <p:spPr>
          <a:xfrm>
            <a:off x="6297622" y="31566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87"/>
          <p:cNvSpPr txBox="1"/>
          <p:nvPr/>
        </p:nvSpPr>
        <p:spPr>
          <a:xfrm>
            <a:off x="7207275" y="3348300"/>
            <a:ext cx="173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DISPLAY - Affichage de la 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7"/>
          <p:cNvSpPr txBox="1"/>
          <p:nvPr/>
        </p:nvSpPr>
        <p:spPr>
          <a:xfrm>
            <a:off x="230775" y="2581950"/>
            <a:ext cx="626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Effectuer dans la boucle de rendu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4" name="Google Shape;87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3003383">
            <a:off x="6937754" y="1127787"/>
            <a:ext cx="1120363" cy="1453927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7"/>
          <p:cNvSpPr txBox="1"/>
          <p:nvPr/>
        </p:nvSpPr>
        <p:spPr>
          <a:xfrm rot="-2313337">
            <a:off x="897444" y="1546049"/>
            <a:ext cx="489512" cy="4309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X 1</a:t>
            </a:r>
            <a:endParaRPr b="1" sz="16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6" name="Google Shape;876;p87"/>
          <p:cNvSpPr/>
          <p:nvPr/>
        </p:nvSpPr>
        <p:spPr>
          <a:xfrm>
            <a:off x="2940225" y="2982150"/>
            <a:ext cx="3294900" cy="2101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7" name="Google Shape;877;p87"/>
          <p:cNvSpPr txBox="1"/>
          <p:nvPr/>
        </p:nvSpPr>
        <p:spPr>
          <a:xfrm>
            <a:off x="3024525" y="4321825"/>
            <a:ext cx="675900" cy="675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3.5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87"/>
          <p:cNvSpPr txBox="1"/>
          <p:nvPr/>
        </p:nvSpPr>
        <p:spPr>
          <a:xfrm>
            <a:off x="1517975" y="1465700"/>
            <a:ext cx="264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INITIALISATION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9" name="Google Shape;879;p87"/>
          <p:cNvCxnSpPr/>
          <p:nvPr/>
        </p:nvCxnSpPr>
        <p:spPr>
          <a:xfrm flipH="1" rot="10800000">
            <a:off x="235250" y="820125"/>
            <a:ext cx="2988300" cy="1347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87"/>
          <p:cNvCxnSpPr/>
          <p:nvPr/>
        </p:nvCxnSpPr>
        <p:spPr>
          <a:xfrm>
            <a:off x="292450" y="877375"/>
            <a:ext cx="2937300" cy="1296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88"/>
          <p:cNvSpPr txBox="1"/>
          <p:nvPr>
            <p:ph type="ctrTitle"/>
          </p:nvPr>
        </p:nvSpPr>
        <p:spPr>
          <a:xfrm>
            <a:off x="367975" y="1335450"/>
            <a:ext cx="39450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Direct3D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Clear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9"/>
          <p:cNvSpPr txBox="1"/>
          <p:nvPr>
            <p:ph type="title"/>
          </p:nvPr>
        </p:nvSpPr>
        <p:spPr>
          <a:xfrm>
            <a:off x="115450" y="110650"/>
            <a:ext cx="4474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Clear</a:t>
            </a:r>
            <a:endParaRPr/>
          </a:p>
        </p:txBody>
      </p:sp>
      <p:sp>
        <p:nvSpPr>
          <p:cNvPr id="891" name="Google Shape;891;p89"/>
          <p:cNvSpPr txBox="1"/>
          <p:nvPr/>
        </p:nvSpPr>
        <p:spPr>
          <a:xfrm>
            <a:off x="646700" y="902375"/>
            <a:ext cx="484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est nécessaire de nettoyer l’affichage, car les éléments </a:t>
            </a:r>
            <a:r>
              <a:rPr lang="en-US" sz="1200"/>
              <a:t>précédemment</a:t>
            </a:r>
            <a:r>
              <a:rPr lang="en-US" sz="1200"/>
              <a:t> affichés ne </a:t>
            </a:r>
            <a:r>
              <a:rPr b="1" lang="en-US" sz="1200"/>
              <a:t>disparaissent pas</a:t>
            </a:r>
            <a:r>
              <a:rPr lang="en-US" sz="1200"/>
              <a:t> par eux même.</a:t>
            </a:r>
            <a:endParaRPr sz="1200"/>
          </a:p>
        </p:txBody>
      </p:sp>
      <p:sp>
        <p:nvSpPr>
          <p:cNvPr id="892" name="Google Shape;892;p89"/>
          <p:cNvSpPr txBox="1"/>
          <p:nvPr/>
        </p:nvSpPr>
        <p:spPr>
          <a:xfrm>
            <a:off x="699325" y="1759625"/>
            <a:ext cx="651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Ce qui va être nettoyer</a:t>
            </a:r>
            <a:r>
              <a:rPr lang="en-US" sz="1200"/>
              <a:t>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La Render Target View 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-&gt;ClearRenderTargetView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La Depth Stencil View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-&gt;ClearDepthStencilView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</p:txBody>
      </p:sp>
      <p:sp>
        <p:nvSpPr>
          <p:cNvPr id="893" name="Google Shape;893;p89"/>
          <p:cNvSpPr txBox="1"/>
          <p:nvPr/>
        </p:nvSpPr>
        <p:spPr>
          <a:xfrm>
            <a:off x="1556475" y="2801675"/>
            <a:ext cx="20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Clear Render Target View</a:t>
            </a:r>
            <a:endParaRPr b="1" sz="1200"/>
          </a:p>
        </p:txBody>
      </p:sp>
      <p:sp>
        <p:nvSpPr>
          <p:cNvPr id="894" name="Google Shape;894;p89"/>
          <p:cNvSpPr txBox="1"/>
          <p:nvPr/>
        </p:nvSpPr>
        <p:spPr>
          <a:xfrm>
            <a:off x="848025" y="3170975"/>
            <a:ext cx="3324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</a:rPr>
              <a:t>Le GPU remplit tous les pixels du render target avec la couleur donnée.</a:t>
            </a:r>
            <a:br>
              <a:rPr lang="en-US" sz="1200">
                <a:solidFill>
                  <a:srgbClr val="1F1F1F"/>
                </a:solidFill>
              </a:rPr>
            </a:br>
            <a:endParaRPr sz="1200">
              <a:solidFill>
                <a:srgbClr val="1F1F1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</a:rPr>
              <a:t>Cela affecte le back buffer (celui qui va être afficher).</a:t>
            </a:r>
            <a:br>
              <a:rPr lang="en-US" sz="1200">
                <a:solidFill>
                  <a:srgbClr val="1F1F1F"/>
                </a:solidFill>
              </a:rPr>
            </a:br>
            <a:endParaRPr sz="1200">
              <a:solidFill>
                <a:srgbClr val="1F1F1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</a:rPr>
              <a:t>Toutes les anciennes valeurs de couleur (pixels précédents) sont perdues.</a:t>
            </a:r>
            <a:endParaRPr sz="1000">
              <a:solidFill>
                <a:srgbClr val="1F1F1F"/>
              </a:solidFill>
            </a:endParaRPr>
          </a:p>
        </p:txBody>
      </p:sp>
      <p:sp>
        <p:nvSpPr>
          <p:cNvPr id="895" name="Google Shape;895;p89"/>
          <p:cNvSpPr txBox="1"/>
          <p:nvPr/>
        </p:nvSpPr>
        <p:spPr>
          <a:xfrm>
            <a:off x="5596575" y="2801675"/>
            <a:ext cx="20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Clear Depth Stencil View</a:t>
            </a:r>
            <a:endParaRPr b="1" sz="1200"/>
          </a:p>
        </p:txBody>
      </p:sp>
      <p:sp>
        <p:nvSpPr>
          <p:cNvPr id="896" name="Google Shape;896;p89"/>
          <p:cNvSpPr txBox="1"/>
          <p:nvPr/>
        </p:nvSpPr>
        <p:spPr>
          <a:xfrm>
            <a:off x="4888125" y="3170975"/>
            <a:ext cx="332490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Remplit la texture de profondeur avec la valeur 1.0f (la plus éloignée possible).</a:t>
            </a:r>
            <a:br>
              <a:rPr lang="en-US" sz="1200"/>
            </a:b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Si le flag D3D11_CLEAR_STENCIL est présent 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Met aussi tous les bits du buffer de stencil à 0.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90"/>
          <p:cNvSpPr txBox="1"/>
          <p:nvPr>
            <p:ph type="ctrTitle"/>
          </p:nvPr>
        </p:nvSpPr>
        <p:spPr>
          <a:xfrm>
            <a:off x="367975" y="1335450"/>
            <a:ext cx="39450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Direct3D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Affichage (Draw)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1"/>
          <p:cNvSpPr txBox="1"/>
          <p:nvPr>
            <p:ph type="title"/>
          </p:nvPr>
        </p:nvSpPr>
        <p:spPr>
          <a:xfrm>
            <a:off x="84425" y="146425"/>
            <a:ext cx="6790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Draw un mesh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91"/>
          <p:cNvSpPr txBox="1"/>
          <p:nvPr/>
        </p:nvSpPr>
        <p:spPr>
          <a:xfrm>
            <a:off x="1269475" y="1098963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8" name="Google Shape;90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91"/>
          <p:cNvSpPr txBox="1"/>
          <p:nvPr/>
        </p:nvSpPr>
        <p:spPr>
          <a:xfrm>
            <a:off x="1902725" y="1142088"/>
            <a:ext cx="21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Récupération des données du mesh (Vertices &amp; Indexes)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910" name="Google Shape;910;p91"/>
          <p:cNvSpPr/>
          <p:nvPr/>
        </p:nvSpPr>
        <p:spPr>
          <a:xfrm>
            <a:off x="1269302" y="2713123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91"/>
          <p:cNvSpPr txBox="1"/>
          <p:nvPr/>
        </p:nvSpPr>
        <p:spPr>
          <a:xfrm>
            <a:off x="1269474" y="2713123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91"/>
          <p:cNvSpPr txBox="1"/>
          <p:nvPr/>
        </p:nvSpPr>
        <p:spPr>
          <a:xfrm>
            <a:off x="1902550" y="2750888"/>
            <a:ext cx="22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Mise à jour/création des matrices World/View/Projection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91"/>
          <p:cNvSpPr txBox="1"/>
          <p:nvPr/>
        </p:nvSpPr>
        <p:spPr>
          <a:xfrm>
            <a:off x="1269300" y="1906062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91"/>
          <p:cNvSpPr txBox="1"/>
          <p:nvPr/>
        </p:nvSpPr>
        <p:spPr>
          <a:xfrm>
            <a:off x="1902550" y="2019763"/>
            <a:ext cx="199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Set la Pipeline State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915" name="Google Shape;915;p91"/>
          <p:cNvSpPr txBox="1"/>
          <p:nvPr/>
        </p:nvSpPr>
        <p:spPr>
          <a:xfrm>
            <a:off x="1269300" y="3550588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91"/>
          <p:cNvSpPr txBox="1"/>
          <p:nvPr/>
        </p:nvSpPr>
        <p:spPr>
          <a:xfrm>
            <a:off x="1864950" y="3696588"/>
            <a:ext cx="23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Mise à jour du buffer de matrices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91"/>
          <p:cNvSpPr txBox="1"/>
          <p:nvPr/>
        </p:nvSpPr>
        <p:spPr>
          <a:xfrm>
            <a:off x="4551911" y="1903686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91"/>
          <p:cNvSpPr txBox="1"/>
          <p:nvPr/>
        </p:nvSpPr>
        <p:spPr>
          <a:xfrm>
            <a:off x="5176826" y="1918575"/>
            <a:ext cx="18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Mise à jour du buffer de couleurs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91"/>
          <p:cNvSpPr txBox="1"/>
          <p:nvPr/>
        </p:nvSpPr>
        <p:spPr>
          <a:xfrm>
            <a:off x="4551383" y="2727139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91"/>
          <p:cNvSpPr txBox="1"/>
          <p:nvPr/>
        </p:nvSpPr>
        <p:spPr>
          <a:xfrm>
            <a:off x="5185200" y="2731338"/>
            <a:ext cx="18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Bind le buffer de couleurs au Pixel Shader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91"/>
          <p:cNvSpPr txBox="1"/>
          <p:nvPr/>
        </p:nvSpPr>
        <p:spPr>
          <a:xfrm>
            <a:off x="4551911" y="3550592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8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91"/>
          <p:cNvSpPr txBox="1"/>
          <p:nvPr/>
        </p:nvSpPr>
        <p:spPr>
          <a:xfrm>
            <a:off x="5185375" y="3674675"/>
            <a:ext cx="15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Draw les Index/Vertex</a:t>
            </a:r>
            <a:endParaRPr sz="1200"/>
          </a:p>
        </p:txBody>
      </p:sp>
      <p:sp>
        <p:nvSpPr>
          <p:cNvPr id="923" name="Google Shape;923;p91"/>
          <p:cNvSpPr txBox="1"/>
          <p:nvPr/>
        </p:nvSpPr>
        <p:spPr>
          <a:xfrm>
            <a:off x="4551375" y="1098976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91"/>
          <p:cNvSpPr txBox="1"/>
          <p:nvPr/>
        </p:nvSpPr>
        <p:spPr>
          <a:xfrm>
            <a:off x="5184625" y="1102650"/>
            <a:ext cx="18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Bind le buffer de matrices au Vertex Shader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92"/>
          <p:cNvSpPr txBox="1"/>
          <p:nvPr>
            <p:ph type="title"/>
          </p:nvPr>
        </p:nvSpPr>
        <p:spPr>
          <a:xfrm>
            <a:off x="84425" y="146425"/>
            <a:ext cx="6790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Draw un mesh - Set la Pipeline State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0" name="Google Shape;93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92"/>
          <p:cNvSpPr txBox="1"/>
          <p:nvPr/>
        </p:nvSpPr>
        <p:spPr>
          <a:xfrm>
            <a:off x="714375" y="1058550"/>
            <a:ext cx="81588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Cette </a:t>
            </a:r>
            <a:r>
              <a:rPr lang="en-US" sz="1200"/>
              <a:t>opération </a:t>
            </a:r>
            <a:r>
              <a:rPr lang="en-US" sz="1200"/>
              <a:t>doit être effectuée à chaque mesh affiché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Voici les étapes à faire: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Set le Vertex Buffer (déjà créé et stocké dans le Mesh)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-&gt;IASetVertexBuffers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Set l’Index Buffer						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-&gt;IASetIndexBuffer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Set L’input Layout (doit correspondre au Vertex Shader)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-&gt;IASetInputLayout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Set la topologie des primitives				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-&gt;IASetPrimitiveTopology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(le type d’affichage: liste de lignes, liste de triangles, …)	</a:t>
            </a:r>
            <a:endParaRPr sz="1050">
              <a:solidFill>
                <a:srgbClr val="4FC1FF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Bind le Vertex Shader					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-&gt;VSSetShader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Bind le Pixel Shader						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-&gt;PSSetShader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93"/>
          <p:cNvSpPr txBox="1"/>
          <p:nvPr>
            <p:ph type="title"/>
          </p:nvPr>
        </p:nvSpPr>
        <p:spPr>
          <a:xfrm>
            <a:off x="84425" y="146425"/>
            <a:ext cx="6790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Draw un mesh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93"/>
          <p:cNvSpPr txBox="1"/>
          <p:nvPr/>
        </p:nvSpPr>
        <p:spPr>
          <a:xfrm>
            <a:off x="878450" y="1095088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8" name="Google Shape;938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93"/>
          <p:cNvSpPr txBox="1"/>
          <p:nvPr/>
        </p:nvSpPr>
        <p:spPr>
          <a:xfrm>
            <a:off x="1511700" y="1138213"/>
            <a:ext cx="21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Récupération des données du mesh (Vertices &amp; Indexes)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940" name="Google Shape;940;p93"/>
          <p:cNvSpPr/>
          <p:nvPr/>
        </p:nvSpPr>
        <p:spPr>
          <a:xfrm>
            <a:off x="878277" y="2709248"/>
            <a:ext cx="633300" cy="68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93"/>
          <p:cNvSpPr txBox="1"/>
          <p:nvPr/>
        </p:nvSpPr>
        <p:spPr>
          <a:xfrm>
            <a:off x="878449" y="2709248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93"/>
          <p:cNvSpPr txBox="1"/>
          <p:nvPr/>
        </p:nvSpPr>
        <p:spPr>
          <a:xfrm>
            <a:off x="1511525" y="2747013"/>
            <a:ext cx="22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Mise à jour/création des matrices World/View/Projection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93"/>
          <p:cNvSpPr txBox="1"/>
          <p:nvPr/>
        </p:nvSpPr>
        <p:spPr>
          <a:xfrm>
            <a:off x="878275" y="1902187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93"/>
          <p:cNvSpPr txBox="1"/>
          <p:nvPr/>
        </p:nvSpPr>
        <p:spPr>
          <a:xfrm>
            <a:off x="1511525" y="2015888"/>
            <a:ext cx="199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Set la Pipeline State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945" name="Google Shape;945;p93"/>
          <p:cNvSpPr txBox="1"/>
          <p:nvPr/>
        </p:nvSpPr>
        <p:spPr>
          <a:xfrm>
            <a:off x="878275" y="3546713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3"/>
          <p:cNvSpPr txBox="1"/>
          <p:nvPr/>
        </p:nvSpPr>
        <p:spPr>
          <a:xfrm>
            <a:off x="1473925" y="3692713"/>
            <a:ext cx="23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Mise à jour du buffer de matrices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93"/>
          <p:cNvSpPr txBox="1"/>
          <p:nvPr/>
        </p:nvSpPr>
        <p:spPr>
          <a:xfrm>
            <a:off x="4597911" y="1892073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93"/>
          <p:cNvSpPr txBox="1"/>
          <p:nvPr/>
        </p:nvSpPr>
        <p:spPr>
          <a:xfrm>
            <a:off x="5222826" y="1906963"/>
            <a:ext cx="18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Mise à jour du buffer de couleurs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93"/>
          <p:cNvSpPr txBox="1"/>
          <p:nvPr/>
        </p:nvSpPr>
        <p:spPr>
          <a:xfrm>
            <a:off x="4597383" y="2715527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93"/>
          <p:cNvSpPr txBox="1"/>
          <p:nvPr/>
        </p:nvSpPr>
        <p:spPr>
          <a:xfrm>
            <a:off x="5231200" y="2719725"/>
            <a:ext cx="18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Bind le buffer de couleurs au Pixel Shader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93"/>
          <p:cNvSpPr txBox="1"/>
          <p:nvPr/>
        </p:nvSpPr>
        <p:spPr>
          <a:xfrm>
            <a:off x="4597911" y="3538980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8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3"/>
          <p:cNvSpPr txBox="1"/>
          <p:nvPr/>
        </p:nvSpPr>
        <p:spPr>
          <a:xfrm>
            <a:off x="5231375" y="3663063"/>
            <a:ext cx="15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200"/>
              <a:t>Draw les Index/Vertex</a:t>
            </a:r>
            <a:endParaRPr sz="1200"/>
          </a:p>
        </p:txBody>
      </p:sp>
      <p:sp>
        <p:nvSpPr>
          <p:cNvPr id="953" name="Google Shape;953;p93"/>
          <p:cNvSpPr txBox="1"/>
          <p:nvPr/>
        </p:nvSpPr>
        <p:spPr>
          <a:xfrm>
            <a:off x="4597375" y="1087363"/>
            <a:ext cx="470700" cy="509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93"/>
          <p:cNvSpPr txBox="1"/>
          <p:nvPr/>
        </p:nvSpPr>
        <p:spPr>
          <a:xfrm>
            <a:off x="5230625" y="1091038"/>
            <a:ext cx="18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Bind le buffer de matrices au Vertex Shader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93"/>
          <p:cNvSpPr txBox="1"/>
          <p:nvPr/>
        </p:nvSpPr>
        <p:spPr>
          <a:xfrm>
            <a:off x="1348975" y="3620575"/>
            <a:ext cx="3248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-&gt;UpdateSubresource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6" name="Google Shape;956;p93"/>
          <p:cNvSpPr txBox="1"/>
          <p:nvPr/>
        </p:nvSpPr>
        <p:spPr>
          <a:xfrm>
            <a:off x="5177700" y="1176700"/>
            <a:ext cx="3444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-&gt;VSSetConstantBuffers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7" name="Google Shape;957;p93"/>
          <p:cNvSpPr txBox="1"/>
          <p:nvPr/>
        </p:nvSpPr>
        <p:spPr>
          <a:xfrm>
            <a:off x="5177700" y="1983775"/>
            <a:ext cx="3286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-&gt;UpdateSubresource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8" name="Google Shape;958;p93"/>
          <p:cNvSpPr txBox="1"/>
          <p:nvPr/>
        </p:nvSpPr>
        <p:spPr>
          <a:xfrm>
            <a:off x="5177700" y="2823425"/>
            <a:ext cx="35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-&gt;PSSetConstantBuffers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9" name="Google Shape;959;p93"/>
          <p:cNvSpPr txBox="1"/>
          <p:nvPr/>
        </p:nvSpPr>
        <p:spPr>
          <a:xfrm>
            <a:off x="5177700" y="3624375"/>
            <a:ext cx="35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deviceContext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-&gt;DrawIndexed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94"/>
          <p:cNvSpPr txBox="1"/>
          <p:nvPr>
            <p:ph type="ctrTitle"/>
          </p:nvPr>
        </p:nvSpPr>
        <p:spPr>
          <a:xfrm>
            <a:off x="367975" y="1335450"/>
            <a:ext cx="39450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Direct3D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Display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(presentation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 la frame)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5"/>
          <p:cNvSpPr txBox="1"/>
          <p:nvPr>
            <p:ph type="title"/>
          </p:nvPr>
        </p:nvSpPr>
        <p:spPr>
          <a:xfrm>
            <a:off x="84425" y="146425"/>
            <a:ext cx="6790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Display (Presentation de la frame)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0" name="Google Shape;97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95"/>
          <p:cNvSpPr txBox="1"/>
          <p:nvPr/>
        </p:nvSpPr>
        <p:spPr>
          <a:xfrm>
            <a:off x="727325" y="1188125"/>
            <a:ext cx="55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Ce qui a été </a:t>
            </a:r>
            <a:r>
              <a:rPr b="1" lang="en-US" sz="1200"/>
              <a:t>travaillé</a:t>
            </a:r>
            <a:r>
              <a:rPr b="1" lang="en-US" sz="1200"/>
              <a:t> jusqu’à maintenant:</a:t>
            </a:r>
            <a:r>
              <a:rPr lang="en-US" sz="1200"/>
              <a:t> Le Back Buffer de la swapchain</a:t>
            </a:r>
            <a:endParaRPr sz="1200"/>
          </a:p>
        </p:txBody>
      </p:sp>
      <p:sp>
        <p:nvSpPr>
          <p:cNvPr id="972" name="Google Shape;972;p95"/>
          <p:cNvSpPr txBox="1"/>
          <p:nvPr/>
        </p:nvSpPr>
        <p:spPr>
          <a:xfrm>
            <a:off x="727325" y="1765313"/>
            <a:ext cx="467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Pour display notre mesh, on va présenter la frame, avec </a:t>
            </a:r>
            <a:r>
              <a:rPr b="1" lang="en-US" sz="1200"/>
              <a:t>Present()</a:t>
            </a:r>
            <a:endParaRPr b="1" sz="1200"/>
          </a:p>
        </p:txBody>
      </p:sp>
      <p:sp>
        <p:nvSpPr>
          <p:cNvPr id="973" name="Google Shape;973;p95"/>
          <p:cNvSpPr txBox="1"/>
          <p:nvPr/>
        </p:nvSpPr>
        <p:spPr>
          <a:xfrm>
            <a:off x="727325" y="2134613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swapChain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-&gt;Present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4" name="Google Shape;974;p95"/>
          <p:cNvSpPr txBox="1"/>
          <p:nvPr/>
        </p:nvSpPr>
        <p:spPr>
          <a:xfrm>
            <a:off x="727325" y="2688700"/>
            <a:ext cx="433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</a:rPr>
              <a:t>Attention à: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975" name="Google Shape;975;p95"/>
          <p:cNvSpPr txBox="1"/>
          <p:nvPr/>
        </p:nvSpPr>
        <p:spPr>
          <a:xfrm>
            <a:off x="727325" y="3058000"/>
            <a:ext cx="524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Ne pas dessiner avant d’avoir bindé un render target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sinon on dessine dans le vide.</a:t>
            </a:r>
            <a:br>
              <a:rPr lang="en-US" sz="1200"/>
            </a:b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Ne pas oublier le Present()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sinon rien ne s’affiche</a:t>
            </a:r>
            <a:br>
              <a:rPr lang="en-US" sz="1200"/>
            </a:b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Trop de Present() par frame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Cela perturbe la synchronisation, écrase potentiellement des frames en cours, et alourdit inutilement le travail du GPU</a:t>
            </a:r>
            <a:endParaRPr sz="1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96"/>
          <p:cNvSpPr txBox="1"/>
          <p:nvPr>
            <p:ph type="title"/>
          </p:nvPr>
        </p:nvSpPr>
        <p:spPr>
          <a:xfrm>
            <a:off x="84425" y="146425"/>
            <a:ext cx="6496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Avez-vous compris?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96"/>
          <p:cNvSpPr/>
          <p:nvPr/>
        </p:nvSpPr>
        <p:spPr>
          <a:xfrm>
            <a:off x="608075" y="1121600"/>
            <a:ext cx="909900" cy="9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96"/>
          <p:cNvSpPr txBox="1"/>
          <p:nvPr/>
        </p:nvSpPr>
        <p:spPr>
          <a:xfrm>
            <a:off x="455922" y="11216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96"/>
          <p:cNvSpPr/>
          <p:nvPr/>
        </p:nvSpPr>
        <p:spPr>
          <a:xfrm>
            <a:off x="2940225" y="2982150"/>
            <a:ext cx="3294900" cy="2101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4" name="Google Shape;984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96"/>
          <p:cNvSpPr txBox="1"/>
          <p:nvPr/>
        </p:nvSpPr>
        <p:spPr>
          <a:xfrm>
            <a:off x="3934175" y="4413475"/>
            <a:ext cx="264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VERTEX SHADER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PIXEL SHADER</a:t>
            </a:r>
            <a:endParaRPr sz="1300"/>
          </a:p>
        </p:txBody>
      </p:sp>
      <p:sp>
        <p:nvSpPr>
          <p:cNvPr id="986" name="Google Shape;986;p96"/>
          <p:cNvSpPr/>
          <p:nvPr/>
        </p:nvSpPr>
        <p:spPr>
          <a:xfrm>
            <a:off x="0" y="2949450"/>
            <a:ext cx="8971200" cy="1272300"/>
          </a:xfrm>
          <a:prstGeom prst="rect">
            <a:avLst/>
          </a:prstGeom>
          <a:noFill/>
          <a:ln cap="flat" cmpd="sng" w="38100">
            <a:solidFill>
              <a:srgbClr val="00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7" name="Google Shape;987;p96"/>
          <p:cNvSpPr/>
          <p:nvPr/>
        </p:nvSpPr>
        <p:spPr>
          <a:xfrm>
            <a:off x="3024275" y="3143850"/>
            <a:ext cx="909900" cy="9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96"/>
          <p:cNvSpPr txBox="1"/>
          <p:nvPr/>
        </p:nvSpPr>
        <p:spPr>
          <a:xfrm>
            <a:off x="3024522" y="314385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96"/>
          <p:cNvSpPr txBox="1"/>
          <p:nvPr/>
        </p:nvSpPr>
        <p:spPr>
          <a:xfrm>
            <a:off x="3934175" y="3339288"/>
            <a:ext cx="230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DRAW - Dessin du Mesh sur la 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96"/>
          <p:cNvSpPr txBox="1"/>
          <p:nvPr/>
        </p:nvSpPr>
        <p:spPr>
          <a:xfrm>
            <a:off x="205722" y="31608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96"/>
          <p:cNvSpPr txBox="1"/>
          <p:nvPr/>
        </p:nvSpPr>
        <p:spPr>
          <a:xfrm>
            <a:off x="1115375" y="3352500"/>
            <a:ext cx="190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CLEAR - Effacement de la 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96"/>
          <p:cNvSpPr txBox="1"/>
          <p:nvPr/>
        </p:nvSpPr>
        <p:spPr>
          <a:xfrm>
            <a:off x="6297622" y="3156600"/>
            <a:ext cx="675900" cy="675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96"/>
          <p:cNvSpPr txBox="1"/>
          <p:nvPr/>
        </p:nvSpPr>
        <p:spPr>
          <a:xfrm>
            <a:off x="7207275" y="3348300"/>
            <a:ext cx="173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DISPLAY - Affichage de la frame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4" name="Google Shape;994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3003383">
            <a:off x="6937754" y="1127787"/>
            <a:ext cx="1120363" cy="1453927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96"/>
          <p:cNvSpPr txBox="1"/>
          <p:nvPr/>
        </p:nvSpPr>
        <p:spPr>
          <a:xfrm>
            <a:off x="3024525" y="4321825"/>
            <a:ext cx="675900" cy="675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3.5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96"/>
          <p:cNvSpPr txBox="1"/>
          <p:nvPr/>
        </p:nvSpPr>
        <p:spPr>
          <a:xfrm>
            <a:off x="1517975" y="1465700"/>
            <a:ext cx="264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INITIALISATION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97"/>
          <p:cNvSpPr txBox="1"/>
          <p:nvPr>
            <p:ph type="title"/>
          </p:nvPr>
        </p:nvSpPr>
        <p:spPr>
          <a:xfrm>
            <a:off x="781850" y="2362800"/>
            <a:ext cx="50028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/>
              <a:t>Des Questions ?</a:t>
            </a:r>
            <a:endParaRPr sz="4000"/>
          </a:p>
        </p:txBody>
      </p:sp>
      <p:pic>
        <p:nvPicPr>
          <p:cNvPr id="1002" name="Google Shape;100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4">
            <a:off x="6739979" y="1494315"/>
            <a:ext cx="1953394" cy="3066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98"/>
          <p:cNvSpPr txBox="1"/>
          <p:nvPr>
            <p:ph idx="1" type="body"/>
          </p:nvPr>
        </p:nvSpPr>
        <p:spPr>
          <a:xfrm>
            <a:off x="6901950" y="8171300"/>
            <a:ext cx="44724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-US" sz="1000"/>
              <a:t>contact@laplateforme.io</a:t>
            </a:r>
            <a:br>
              <a:rPr lang="en-US" sz="1000"/>
            </a:br>
            <a:r>
              <a:rPr lang="en-US" sz="1000"/>
              <a:t>8 rue d’Hozier 13002 Marseille</a:t>
            </a:r>
            <a:br>
              <a:rPr lang="en-US" sz="1000"/>
            </a:br>
            <a:r>
              <a:rPr lang="en-US" sz="1000"/>
              <a:t>04.84.89.43.69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_PLATEFORME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